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64"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26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451A3D-557E-469E-9B36-DDD18D33E009}" type="datetimeFigureOut">
              <a:rPr lang="en-IN" smtClean="0"/>
              <a:t>03-10-2025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482279-AE72-4744-8495-C0E96DAFB466}" type="slidenum">
              <a:rPr lang="en-IN" smtClean="0"/>
              <a:t>‹#›</a:t>
            </a:fld>
            <a:endParaRPr lang="en-IN"/>
          </a:p>
        </p:txBody>
      </p:sp>
    </p:spTree>
    <p:extLst>
      <p:ext uri="{BB962C8B-B14F-4D97-AF65-F5344CB8AC3E}">
        <p14:creationId xmlns:p14="http://schemas.microsoft.com/office/powerpoint/2010/main" val="1023546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15DB2C-C523-4856-922C-9C782A6EFCA6}"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1CFEE7-DB09-461A-B24A-DADC48E599A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958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15DB2C-C523-4856-922C-9C782A6EFCA6}"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1CFEE7-DB09-461A-B24A-DADC48E599AB}" type="slidenum">
              <a:rPr lang="en-IN" smtClean="0"/>
              <a:t>‹#›</a:t>
            </a:fld>
            <a:endParaRPr lang="en-IN"/>
          </a:p>
        </p:txBody>
      </p:sp>
    </p:spTree>
    <p:extLst>
      <p:ext uri="{BB962C8B-B14F-4D97-AF65-F5344CB8AC3E}">
        <p14:creationId xmlns:p14="http://schemas.microsoft.com/office/powerpoint/2010/main" val="4270000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15DB2C-C523-4856-922C-9C782A6EFCA6}"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1CFEE7-DB09-461A-B24A-DADC48E599A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455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15DB2C-C523-4856-922C-9C782A6EFCA6}" type="datetimeFigureOut">
              <a:rPr lang="en-IN" smtClean="0"/>
              <a:t>03-10-2025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1CFEE7-DB09-461A-B24A-DADC48E599AB}" type="slidenum">
              <a:rPr lang="en-IN" smtClean="0"/>
              <a:t>‹#›</a:t>
            </a:fld>
            <a:endParaRPr lang="en-IN"/>
          </a:p>
        </p:txBody>
      </p:sp>
    </p:spTree>
    <p:extLst>
      <p:ext uri="{BB962C8B-B14F-4D97-AF65-F5344CB8AC3E}">
        <p14:creationId xmlns:p14="http://schemas.microsoft.com/office/powerpoint/2010/main" val="3779694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15DB2C-C523-4856-922C-9C782A6EFCA6}" type="datetimeFigureOut">
              <a:rPr lang="en-IN" smtClean="0"/>
              <a:t>03-10-2025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E1CFEE7-DB09-461A-B24A-DADC48E599AB}" type="slidenum">
              <a:rPr lang="en-IN" smtClean="0"/>
              <a:t>‹#›</a:t>
            </a:fld>
            <a:endParaRPr lang="en-IN"/>
          </a:p>
        </p:txBody>
      </p:sp>
    </p:spTree>
    <p:extLst>
      <p:ext uri="{BB962C8B-B14F-4D97-AF65-F5344CB8AC3E}">
        <p14:creationId xmlns:p14="http://schemas.microsoft.com/office/powerpoint/2010/main" val="2668811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15DB2C-C523-4856-922C-9C782A6EFCA6}" type="datetimeFigureOut">
              <a:rPr lang="en-IN" smtClean="0"/>
              <a:t>03-10-2025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E1CFEE7-DB09-461A-B24A-DADC48E599AB}" type="slidenum">
              <a:rPr lang="en-IN" smtClean="0"/>
              <a:t>‹#›</a:t>
            </a:fld>
            <a:endParaRPr lang="en-IN"/>
          </a:p>
        </p:txBody>
      </p:sp>
    </p:spTree>
    <p:extLst>
      <p:ext uri="{BB962C8B-B14F-4D97-AF65-F5344CB8AC3E}">
        <p14:creationId xmlns:p14="http://schemas.microsoft.com/office/powerpoint/2010/main" val="2257209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15DB2C-C523-4856-922C-9C782A6EFCA6}" type="datetimeFigureOut">
              <a:rPr lang="en-IN" smtClean="0"/>
              <a:t>03-10-2025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4E1CFEE7-DB09-461A-B24A-DADC48E599AB}" type="slidenum">
              <a:rPr lang="en-IN" smtClean="0"/>
              <a:t>‹#›</a:t>
            </a:fld>
            <a:endParaRPr lang="en-IN"/>
          </a:p>
        </p:txBody>
      </p:sp>
    </p:spTree>
    <p:extLst>
      <p:ext uri="{BB962C8B-B14F-4D97-AF65-F5344CB8AC3E}">
        <p14:creationId xmlns:p14="http://schemas.microsoft.com/office/powerpoint/2010/main" val="1464301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015DB2C-C523-4856-922C-9C782A6EFCA6}" type="datetimeFigureOut">
              <a:rPr lang="en-IN" smtClean="0"/>
              <a:t>03-10-2025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E1CFEE7-DB09-461A-B24A-DADC48E599AB}" type="slidenum">
              <a:rPr lang="en-IN" smtClean="0"/>
              <a:t>‹#›</a:t>
            </a:fld>
            <a:endParaRPr lang="en-IN"/>
          </a:p>
        </p:txBody>
      </p:sp>
    </p:spTree>
    <p:extLst>
      <p:ext uri="{BB962C8B-B14F-4D97-AF65-F5344CB8AC3E}">
        <p14:creationId xmlns:p14="http://schemas.microsoft.com/office/powerpoint/2010/main" val="2415720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15DB2C-C523-4856-922C-9C782A6EFCA6}" type="datetimeFigureOut">
              <a:rPr lang="en-IN" smtClean="0"/>
              <a:t>03-10-2025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E1CFEE7-DB09-461A-B24A-DADC48E599AB}" type="slidenum">
              <a:rPr lang="en-IN" smtClean="0"/>
              <a:t>‹#›</a:t>
            </a:fld>
            <a:endParaRPr lang="en-IN"/>
          </a:p>
        </p:txBody>
      </p:sp>
    </p:spTree>
    <p:extLst>
      <p:ext uri="{BB962C8B-B14F-4D97-AF65-F5344CB8AC3E}">
        <p14:creationId xmlns:p14="http://schemas.microsoft.com/office/powerpoint/2010/main" val="1189851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15DB2C-C523-4856-922C-9C782A6EFCA6}"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1CFEE7-DB09-461A-B24A-DADC48E599AB}" type="slidenum">
              <a:rPr lang="en-IN" smtClean="0"/>
              <a:t>‹#›</a:t>
            </a:fld>
            <a:endParaRPr lang="en-IN"/>
          </a:p>
        </p:txBody>
      </p:sp>
    </p:spTree>
    <p:extLst>
      <p:ext uri="{BB962C8B-B14F-4D97-AF65-F5344CB8AC3E}">
        <p14:creationId xmlns:p14="http://schemas.microsoft.com/office/powerpoint/2010/main" val="692414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15DB2C-C523-4856-922C-9C782A6EFCA6}"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E1CFEE7-DB09-461A-B24A-DADC48E599AB}" type="slidenum">
              <a:rPr lang="en-IN" smtClean="0"/>
              <a:t>‹#›</a:t>
            </a:fld>
            <a:endParaRPr lang="en-IN"/>
          </a:p>
        </p:txBody>
      </p:sp>
    </p:spTree>
    <p:extLst>
      <p:ext uri="{BB962C8B-B14F-4D97-AF65-F5344CB8AC3E}">
        <p14:creationId xmlns:p14="http://schemas.microsoft.com/office/powerpoint/2010/main" val="467039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015DB2C-C523-4856-922C-9C782A6EFCA6}" type="datetimeFigureOut">
              <a:rPr lang="en-IN" smtClean="0"/>
              <a:t>03-10-2025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E1CFEE7-DB09-461A-B24A-DADC48E599AB}"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7557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A1E4-19DE-4D68-A9FC-5D29DD3EC33F}"/>
              </a:ext>
            </a:extLst>
          </p:cNvPr>
          <p:cNvSpPr>
            <a:spLocks noGrp="1"/>
          </p:cNvSpPr>
          <p:nvPr>
            <p:ph type="title"/>
          </p:nvPr>
        </p:nvSpPr>
        <p:spPr>
          <a:xfrm>
            <a:off x="3089853" y="859809"/>
            <a:ext cx="10058400" cy="1450757"/>
          </a:xfrm>
        </p:spPr>
        <p:txBody>
          <a:bodyPr/>
          <a:lstStyle/>
          <a:p>
            <a:r>
              <a:rPr lang="en-IN" sz="3000" b="1" dirty="0">
                <a:latin typeface="Times New Roman" panose="02020603050405020304" pitchFamily="18" charset="0"/>
                <a:cs typeface="Times New Roman" panose="02020603050405020304" pitchFamily="18" charset="0"/>
              </a:rPr>
              <a:t>Course: Thermofluids ( MEC235)</a:t>
            </a:r>
            <a:br>
              <a:rPr lang="en-IN" b="1" dirty="0">
                <a:latin typeface="Times New Roman" panose="02020603050405020304" pitchFamily="18" charset="0"/>
                <a:cs typeface="Times New Roman" panose="02020603050405020304" pitchFamily="18" charset="0"/>
              </a:rPr>
            </a:br>
            <a:endParaRPr lang="en-IN" dirty="0"/>
          </a:p>
        </p:txBody>
      </p:sp>
      <p:sp>
        <p:nvSpPr>
          <p:cNvPr id="4" name="TextBox 3">
            <a:extLst>
              <a:ext uri="{FF2B5EF4-FFF2-40B4-BE49-F238E27FC236}">
                <a16:creationId xmlns:a16="http://schemas.microsoft.com/office/drawing/2014/main" id="{D810093C-EC7D-4900-9AC7-15594133BECA}"/>
              </a:ext>
            </a:extLst>
          </p:cNvPr>
          <p:cNvSpPr txBox="1"/>
          <p:nvPr/>
        </p:nvSpPr>
        <p:spPr>
          <a:xfrm>
            <a:off x="7105539" y="4391766"/>
            <a:ext cx="4925387" cy="1477328"/>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Prepared By: Sudhanshu Dogra</a:t>
            </a:r>
          </a:p>
          <a:p>
            <a:r>
              <a:rPr lang="en-IN" b="1" dirty="0">
                <a:latin typeface="Times New Roman" panose="02020603050405020304" pitchFamily="18" charset="0"/>
                <a:cs typeface="Times New Roman" panose="02020603050405020304" pitchFamily="18" charset="0"/>
              </a:rPr>
              <a:t>Assistant Professor/COD(Thermal Engineering)</a:t>
            </a:r>
          </a:p>
          <a:p>
            <a:r>
              <a:rPr lang="en-IN" b="1" dirty="0">
                <a:latin typeface="Times New Roman" panose="02020603050405020304" pitchFamily="18" charset="0"/>
                <a:cs typeface="Times New Roman" panose="02020603050405020304" pitchFamily="18" charset="0"/>
              </a:rPr>
              <a:t>UID: 16900</a:t>
            </a:r>
          </a:p>
          <a:p>
            <a:r>
              <a:rPr lang="en-IN" b="1" dirty="0">
                <a:latin typeface="Times New Roman" panose="02020603050405020304" pitchFamily="18" charset="0"/>
                <a:cs typeface="Times New Roman" panose="02020603050405020304" pitchFamily="18" charset="0"/>
              </a:rPr>
              <a:t>School of Mechanical Engineering</a:t>
            </a:r>
          </a:p>
          <a:p>
            <a:r>
              <a:rPr lang="en-IN" b="1" dirty="0">
                <a:latin typeface="Times New Roman" panose="02020603050405020304" pitchFamily="18" charset="0"/>
                <a:cs typeface="Times New Roman" panose="02020603050405020304" pitchFamily="18" charset="0"/>
              </a:rPr>
              <a:t>Lovely Professional University</a:t>
            </a:r>
          </a:p>
        </p:txBody>
      </p:sp>
      <p:pic>
        <p:nvPicPr>
          <p:cNvPr id="1026" name="Picture 2" descr="The Carnot Cycle - Stressman Engineering AS">
            <a:extLst>
              <a:ext uri="{FF2B5EF4-FFF2-40B4-BE49-F238E27FC236}">
                <a16:creationId xmlns:a16="http://schemas.microsoft.com/office/drawing/2014/main" id="{8AA28CB3-FA8F-0914-9AC0-C397D9275D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096" y="2209800"/>
            <a:ext cx="4382311"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59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883AE-2AE6-4841-BB2B-BB7194E0D10C}"/>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Carnot cycle</a:t>
            </a:r>
          </a:p>
        </p:txBody>
      </p:sp>
      <p:sp>
        <p:nvSpPr>
          <p:cNvPr id="3" name="Content Placeholder 2">
            <a:extLst>
              <a:ext uri="{FF2B5EF4-FFF2-40B4-BE49-F238E27FC236}">
                <a16:creationId xmlns:a16="http://schemas.microsoft.com/office/drawing/2014/main" id="{A187A85A-3B98-4A22-86BE-996F3A07FFA4}"/>
              </a:ext>
            </a:extLst>
          </p:cNvPr>
          <p:cNvSpPr>
            <a:spLocks noGrp="1"/>
          </p:cNvSpPr>
          <p:nvPr>
            <p:ph idx="1"/>
          </p:nvPr>
        </p:nvSpPr>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The cycle was first suggested by a French engineer Sadi Carnot in 1824 which works on reversible cycle and is known as </a:t>
            </a:r>
            <a:r>
              <a:rPr lang="en-IN" i="1" dirty="0">
                <a:latin typeface="Times New Roman" panose="02020603050405020304" pitchFamily="18" charset="0"/>
                <a:cs typeface="Times New Roman" panose="02020603050405020304" pitchFamily="18" charset="0"/>
              </a:rPr>
              <a:t>Carnot cycle</a:t>
            </a:r>
            <a:r>
              <a:rPr lang="en-IN" dirty="0">
                <a:latin typeface="Times New Roman" panose="02020603050405020304" pitchFamily="18" charset="0"/>
                <a:cs typeface="Times New Roman" panose="02020603050405020304" pitchFamily="18" charset="0"/>
              </a:rPr>
              <a:t>.</a:t>
            </a:r>
          </a:p>
          <a:p>
            <a:pPr algn="just">
              <a:lnSpc>
                <a:spcPct val="150000"/>
              </a:lnSpc>
            </a:pPr>
            <a:r>
              <a:rPr lang="en-IN" dirty="0">
                <a:latin typeface="Times New Roman" panose="02020603050405020304" pitchFamily="18" charset="0"/>
                <a:cs typeface="Times New Roman" panose="02020603050405020304" pitchFamily="18" charset="0"/>
              </a:rPr>
              <a:t>Any fluid may be used to operate the Carnot cycle which is performed in an engine cylinder the head of which is supposed alternatively to be perfect conductor or a perfect insulator of a heat. Heat is caused to flow into the cylinder by the application of high temperature energy source to the cylinder head during expansion, and to flow from the cylinder by the application of a lower temperature energy source to the head during compression.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732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C5EEB-8C24-4D85-817B-B74BCC76307A}"/>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Assumptions</a:t>
            </a:r>
          </a:p>
        </p:txBody>
      </p:sp>
      <p:sp>
        <p:nvSpPr>
          <p:cNvPr id="3" name="Content Placeholder 2">
            <a:extLst>
              <a:ext uri="{FF2B5EF4-FFF2-40B4-BE49-F238E27FC236}">
                <a16:creationId xmlns:a16="http://schemas.microsoft.com/office/drawing/2014/main" id="{54B11523-484E-407C-ABFA-7C03B87518E1}"/>
              </a:ext>
            </a:extLst>
          </p:cNvPr>
          <p:cNvSpPr>
            <a:spLocks noGrp="1"/>
          </p:cNvSpPr>
          <p:nvPr>
            <p:ph idx="1"/>
          </p:nvPr>
        </p:nvSpPr>
        <p:spPr>
          <a:xfrm>
            <a:off x="1097280" y="1845733"/>
            <a:ext cx="10058400" cy="4502057"/>
          </a:xfrm>
        </p:spPr>
        <p:txBody>
          <a:bodyPr>
            <a:noAutofit/>
          </a:bodyPr>
          <a:lstStyle/>
          <a:p>
            <a:pPr algn="just"/>
            <a:r>
              <a:rPr lang="en-IN" sz="1500" dirty="0">
                <a:latin typeface="Times New Roman" panose="02020603050405020304" pitchFamily="18" charset="0"/>
                <a:cs typeface="Times New Roman" panose="02020603050405020304" pitchFamily="18" charset="0"/>
              </a:rPr>
              <a:t>The </a:t>
            </a:r>
            <a:r>
              <a:rPr lang="en-IN" sz="1500" b="1" dirty="0">
                <a:latin typeface="Times New Roman" panose="02020603050405020304" pitchFamily="18" charset="0"/>
                <a:cs typeface="Times New Roman" panose="02020603050405020304" pitchFamily="18" charset="0"/>
              </a:rPr>
              <a:t>assumptions </a:t>
            </a:r>
            <a:r>
              <a:rPr lang="en-IN" sz="1500" dirty="0">
                <a:latin typeface="Times New Roman" panose="02020603050405020304" pitchFamily="18" charset="0"/>
                <a:cs typeface="Times New Roman" panose="02020603050405020304" pitchFamily="18" charset="0"/>
              </a:rPr>
              <a:t>made for describing the working of the Carnot engine are as follows :</a:t>
            </a:r>
          </a:p>
          <a:p>
            <a:pPr algn="just"/>
            <a:r>
              <a:rPr lang="en-IN" sz="1500" dirty="0">
                <a:latin typeface="Times New Roman" panose="02020603050405020304" pitchFamily="18" charset="0"/>
                <a:cs typeface="Times New Roman" panose="02020603050405020304" pitchFamily="18" charset="0"/>
              </a:rPr>
              <a:t>(i) The piston moving in a cylinder does not develop any friction during motion.</a:t>
            </a:r>
          </a:p>
          <a:p>
            <a:pPr algn="just"/>
            <a:r>
              <a:rPr lang="en-IN" sz="1500" dirty="0">
                <a:latin typeface="Times New Roman" panose="02020603050405020304" pitchFamily="18" charset="0"/>
                <a:cs typeface="Times New Roman" panose="02020603050405020304" pitchFamily="18" charset="0"/>
              </a:rPr>
              <a:t>(ii) The walls of piston and cylinder are considered as perfect insulators of heat.</a:t>
            </a:r>
          </a:p>
          <a:p>
            <a:pPr algn="just"/>
            <a:r>
              <a:rPr lang="en-IN" sz="1500" dirty="0">
                <a:latin typeface="Times New Roman" panose="02020603050405020304" pitchFamily="18" charset="0"/>
                <a:cs typeface="Times New Roman" panose="02020603050405020304" pitchFamily="18" charset="0"/>
              </a:rPr>
              <a:t>(iii) The cylinder head is so arranged that it can be a perfect heat conductor or perfect heat insulator.</a:t>
            </a:r>
          </a:p>
          <a:p>
            <a:pPr algn="just"/>
            <a:r>
              <a:rPr lang="en-IN" sz="1500" dirty="0">
                <a:latin typeface="Times New Roman" panose="02020603050405020304" pitchFamily="18" charset="0"/>
                <a:cs typeface="Times New Roman" panose="02020603050405020304" pitchFamily="18" charset="0"/>
              </a:rPr>
              <a:t>(iv) The transfer of heat does not affect the temperature of source or sink.</a:t>
            </a:r>
          </a:p>
          <a:p>
            <a:pPr algn="just"/>
            <a:r>
              <a:rPr lang="en-IN" sz="1500" dirty="0">
                <a:latin typeface="Times New Roman" panose="02020603050405020304" pitchFamily="18" charset="0"/>
                <a:cs typeface="Times New Roman" panose="02020603050405020304" pitchFamily="18" charset="0"/>
              </a:rPr>
              <a:t>(v) Working medium is a perfect gas and has constant specific heat.</a:t>
            </a:r>
          </a:p>
          <a:p>
            <a:pPr algn="just"/>
            <a:r>
              <a:rPr lang="en-IN" sz="1500" dirty="0">
                <a:latin typeface="Times New Roman" panose="02020603050405020304" pitchFamily="18" charset="0"/>
                <a:cs typeface="Times New Roman" panose="02020603050405020304" pitchFamily="18" charset="0"/>
              </a:rPr>
              <a:t>(vi) Compression and expansion are reversible. </a:t>
            </a:r>
          </a:p>
        </p:txBody>
      </p:sp>
      <p:pic>
        <p:nvPicPr>
          <p:cNvPr id="7" name="Picture 6">
            <a:extLst>
              <a:ext uri="{FF2B5EF4-FFF2-40B4-BE49-F238E27FC236}">
                <a16:creationId xmlns:a16="http://schemas.microsoft.com/office/drawing/2014/main" id="{7ADEF500-0934-421C-BB6A-242B7C459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7792" y="4096761"/>
            <a:ext cx="4916556" cy="1842052"/>
          </a:xfrm>
          <a:prstGeom prst="rect">
            <a:avLst/>
          </a:prstGeom>
        </p:spPr>
      </p:pic>
    </p:spTree>
    <p:extLst>
      <p:ext uri="{BB962C8B-B14F-4D97-AF65-F5344CB8AC3E}">
        <p14:creationId xmlns:p14="http://schemas.microsoft.com/office/powerpoint/2010/main" val="1966406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0833A-A38D-42B2-8A60-A4A4F9AB17AF}"/>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Processes in Carnot Cycle</a:t>
            </a:r>
          </a:p>
        </p:txBody>
      </p:sp>
      <p:sp>
        <p:nvSpPr>
          <p:cNvPr id="3" name="Content Placeholder 2">
            <a:extLst>
              <a:ext uri="{FF2B5EF4-FFF2-40B4-BE49-F238E27FC236}">
                <a16:creationId xmlns:a16="http://schemas.microsoft.com/office/drawing/2014/main" id="{431F5D75-9117-4999-823F-31DADE9A6522}"/>
              </a:ext>
            </a:extLst>
          </p:cNvPr>
          <p:cNvSpPr>
            <a:spLocks noGrp="1"/>
          </p:cNvSpPr>
          <p:nvPr>
            <p:ph idx="1"/>
          </p:nvPr>
        </p:nvSpPr>
        <p:spPr/>
        <p:txBody>
          <a:bodyPr>
            <a:normAutofit/>
          </a:bodyPr>
          <a:lstStyle/>
          <a:p>
            <a:pPr algn="just">
              <a:lnSpc>
                <a:spcPct val="150000"/>
              </a:lnSpc>
            </a:pPr>
            <a:r>
              <a:rPr lang="de-DE" b="1" dirty="0">
                <a:latin typeface="Times New Roman" panose="02020603050405020304" pitchFamily="18" charset="0"/>
                <a:cs typeface="Times New Roman" panose="02020603050405020304" pitchFamily="18" charset="0"/>
              </a:rPr>
              <a:t>1) Reversible Isothermal process (1-2): </a:t>
            </a:r>
            <a:r>
              <a:rPr lang="de-DE" dirty="0">
                <a:latin typeface="Times New Roman" panose="02020603050405020304" pitchFamily="18" charset="0"/>
                <a:cs typeface="Times New Roman" panose="02020603050405020304" pitchFamily="18" charset="0"/>
              </a:rPr>
              <a:t>in which Q</a:t>
            </a:r>
            <a:r>
              <a:rPr lang="de-DE" baseline="-25000" dirty="0">
                <a:latin typeface="Times New Roman" panose="02020603050405020304" pitchFamily="18" charset="0"/>
                <a:cs typeface="Times New Roman" panose="02020603050405020304" pitchFamily="18" charset="0"/>
              </a:rPr>
              <a:t>1</a:t>
            </a:r>
            <a:r>
              <a:rPr lang="de-DE" dirty="0">
                <a:latin typeface="Times New Roman" panose="02020603050405020304" pitchFamily="18" charset="0"/>
                <a:cs typeface="Times New Roman" panose="02020603050405020304" pitchFamily="18" charset="0"/>
              </a:rPr>
              <a:t> heat enters the system at t</a:t>
            </a:r>
            <a:r>
              <a:rPr lang="de-DE" baseline="-25000" dirty="0">
                <a:latin typeface="Times New Roman" panose="02020603050405020304" pitchFamily="18" charset="0"/>
                <a:cs typeface="Times New Roman" panose="02020603050405020304" pitchFamily="18" charset="0"/>
              </a:rPr>
              <a:t>1</a:t>
            </a:r>
            <a:r>
              <a:rPr lang="de-DE" dirty="0">
                <a:latin typeface="Times New Roman" panose="02020603050405020304" pitchFamily="18" charset="0"/>
                <a:cs typeface="Times New Roman" panose="02020603050405020304" pitchFamily="18" charset="0"/>
              </a:rPr>
              <a:t> reversibly from a constant temperature source at t</a:t>
            </a:r>
            <a:r>
              <a:rPr lang="de-DE" baseline="-25000" dirty="0">
                <a:latin typeface="Times New Roman" panose="02020603050405020304" pitchFamily="18" charset="0"/>
                <a:cs typeface="Times New Roman" panose="02020603050405020304" pitchFamily="18" charset="0"/>
              </a:rPr>
              <a:t>1</a:t>
            </a:r>
            <a:r>
              <a:rPr lang="de-DE" dirty="0">
                <a:latin typeface="Times New Roman" panose="02020603050405020304" pitchFamily="18" charset="0"/>
                <a:cs typeface="Times New Roman" panose="02020603050405020304" pitchFamily="18" charset="0"/>
              </a:rPr>
              <a:t> whe the cylinder is in contact with diathermic cover. The Internal energy of the system increases.</a:t>
            </a:r>
          </a:p>
          <a:p>
            <a:pPr algn="just">
              <a:lnSpc>
                <a:spcPct val="150000"/>
              </a:lnSpc>
            </a:pPr>
            <a:r>
              <a:rPr lang="de-DE" dirty="0">
                <a:latin typeface="Times New Roman" panose="02020603050405020304" pitchFamily="18" charset="0"/>
                <a:cs typeface="Times New Roman" panose="02020603050405020304" pitchFamily="18" charset="0"/>
              </a:rPr>
              <a:t>From 1st law: </a:t>
            </a:r>
            <a:r>
              <a:rPr lang="en-IN" dirty="0">
                <a:latin typeface="Times New Roman" panose="02020603050405020304" pitchFamily="18" charset="0"/>
                <a:cs typeface="Times New Roman" panose="02020603050405020304" pitchFamily="18" charset="0"/>
              </a:rPr>
              <a:t>Q = ∆U + W</a:t>
            </a:r>
          </a:p>
          <a:p>
            <a:pPr algn="just">
              <a:lnSpc>
                <a:spcPct val="150000"/>
              </a:lnSpc>
            </a:pPr>
            <a:r>
              <a:rPr lang="en-IN" dirty="0">
                <a:latin typeface="Times New Roman" panose="02020603050405020304" pitchFamily="18" charset="0"/>
                <a:cs typeface="Times New Roman" panose="02020603050405020304" pitchFamily="18" charset="0"/>
              </a:rPr>
              <a:t>Q</a:t>
            </a:r>
            <a:r>
              <a:rPr lang="en-IN" baseline="-25000" dirty="0">
                <a:latin typeface="Times New Roman" panose="02020603050405020304" pitchFamily="18" charset="0"/>
                <a:cs typeface="Times New Roman" panose="02020603050405020304" pitchFamily="18" charset="0"/>
              </a:rPr>
              <a:t>1-2</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1-2                                 </a:t>
            </a:r>
            <a:r>
              <a:rPr lang="en-IN" dirty="0">
                <a:latin typeface="Times New Roman" panose="02020603050405020304" pitchFamily="18" charset="0"/>
                <a:cs typeface="Times New Roman" panose="02020603050405020304" pitchFamily="18" charset="0"/>
              </a:rPr>
              <a:t>(1)</a:t>
            </a:r>
          </a:p>
          <a:p>
            <a:pPr algn="just">
              <a:lnSpc>
                <a:spcPct val="150000"/>
              </a:lnSpc>
            </a:pPr>
            <a:endParaRPr lang="de-DE"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47E8F3F-AEE0-4A87-B652-019E49C30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3235" y="3619683"/>
            <a:ext cx="4916556" cy="1842052"/>
          </a:xfrm>
          <a:prstGeom prst="rect">
            <a:avLst/>
          </a:prstGeom>
        </p:spPr>
      </p:pic>
    </p:spTree>
    <p:extLst>
      <p:ext uri="{BB962C8B-B14F-4D97-AF65-F5344CB8AC3E}">
        <p14:creationId xmlns:p14="http://schemas.microsoft.com/office/powerpoint/2010/main" val="1945384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8BBF9-F5D4-423B-B00A-7E9F9737EB1F}"/>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Contd…</a:t>
            </a:r>
          </a:p>
        </p:txBody>
      </p:sp>
      <p:sp>
        <p:nvSpPr>
          <p:cNvPr id="4" name="Content Placeholder 3">
            <a:extLst>
              <a:ext uri="{FF2B5EF4-FFF2-40B4-BE49-F238E27FC236}">
                <a16:creationId xmlns:a16="http://schemas.microsoft.com/office/drawing/2014/main" id="{51DA4D5F-2129-48BC-ACCA-5F87FD941C85}"/>
              </a:ext>
            </a:extLst>
          </p:cNvPr>
          <p:cNvSpPr>
            <a:spLocks noGrp="1"/>
          </p:cNvSpPr>
          <p:nvPr>
            <p:ph idx="1"/>
          </p:nvPr>
        </p:nvSpPr>
        <p:spPr/>
        <p:txBody>
          <a:bodyPr/>
          <a:lstStyle/>
          <a:p>
            <a:pPr algn="just">
              <a:lnSpc>
                <a:spcPct val="150000"/>
              </a:lnSpc>
            </a:pPr>
            <a:r>
              <a:rPr lang="en-IN" b="1" dirty="0">
                <a:latin typeface="Times New Roman" panose="02020603050405020304" pitchFamily="18" charset="0"/>
                <a:cs typeface="Times New Roman" panose="02020603050405020304" pitchFamily="18" charset="0"/>
              </a:rPr>
              <a:t>2) Reversible Adiabatic process(2-3): </a:t>
            </a:r>
            <a:r>
              <a:rPr lang="en-IN" dirty="0">
                <a:latin typeface="Times New Roman" panose="02020603050405020304" pitchFamily="18" charset="0"/>
                <a:cs typeface="Times New Roman" panose="02020603050405020304" pitchFamily="18" charset="0"/>
              </a:rPr>
              <a:t>in which diathermic cover is replaced with adiabatic cover and work is done by the system due to expansion. Temperature of the system decreases from t</a:t>
            </a:r>
            <a:r>
              <a:rPr lang="en-IN" baseline="-25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 to t</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a:t>
            </a:r>
          </a:p>
          <a:p>
            <a:pPr marL="0" indent="0" algn="just">
              <a:lnSpc>
                <a:spcPct val="150000"/>
              </a:lnSpc>
              <a:buNone/>
            </a:pPr>
            <a:r>
              <a:rPr lang="de-DE" dirty="0">
                <a:latin typeface="Times New Roman" panose="02020603050405020304" pitchFamily="18" charset="0"/>
                <a:cs typeface="Times New Roman" panose="02020603050405020304" pitchFamily="18" charset="0"/>
              </a:rPr>
              <a:t>From 1st law: </a:t>
            </a:r>
            <a:r>
              <a:rPr lang="en-IN" dirty="0">
                <a:latin typeface="Times New Roman" panose="02020603050405020304" pitchFamily="18" charset="0"/>
                <a:cs typeface="Times New Roman" panose="02020603050405020304" pitchFamily="18" charset="0"/>
              </a:rPr>
              <a:t>Q = ∆U + W</a:t>
            </a:r>
          </a:p>
          <a:p>
            <a:pPr algn="just">
              <a:lnSpc>
                <a:spcPct val="150000"/>
              </a:lnSpc>
            </a:pPr>
            <a:r>
              <a:rPr lang="en-IN" dirty="0">
                <a:latin typeface="Times New Roman" panose="02020603050405020304" pitchFamily="18" charset="0"/>
                <a:cs typeface="Times New Roman" panose="02020603050405020304" pitchFamily="18" charset="0"/>
              </a:rPr>
              <a:t>Q</a:t>
            </a:r>
            <a:r>
              <a:rPr lang="en-IN" baseline="-25000" dirty="0">
                <a:latin typeface="Times New Roman" panose="02020603050405020304" pitchFamily="18" charset="0"/>
                <a:cs typeface="Times New Roman" panose="02020603050405020304" pitchFamily="18" charset="0"/>
              </a:rPr>
              <a:t>2-3</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2-3</a:t>
            </a:r>
          </a:p>
          <a:p>
            <a:pPr algn="just">
              <a:lnSpc>
                <a:spcPct val="150000"/>
              </a:lnSpc>
            </a:pPr>
            <a:r>
              <a:rPr lang="en-IN" dirty="0">
                <a:latin typeface="Times New Roman" panose="02020603050405020304" pitchFamily="18" charset="0"/>
                <a:cs typeface="Times New Roman" panose="02020603050405020304" pitchFamily="18" charset="0"/>
              </a:rPr>
              <a:t>0 = 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2-3		</a:t>
            </a:r>
            <a:r>
              <a:rPr lang="en-IN" dirty="0">
                <a:latin typeface="Times New Roman" panose="02020603050405020304" pitchFamily="18" charset="0"/>
                <a:cs typeface="Times New Roman" panose="02020603050405020304" pitchFamily="18" charset="0"/>
              </a:rPr>
              <a:t>(2)</a:t>
            </a:r>
            <a:endParaRPr lang="en-IN" dirty="0"/>
          </a:p>
          <a:p>
            <a:pPr algn="just">
              <a:lnSpc>
                <a:spcPct val="150000"/>
              </a:lnSpc>
            </a:pPr>
            <a:endParaRPr lang="en-IN" dirty="0"/>
          </a:p>
          <a:p>
            <a:endParaRPr lang="en-IN" dirty="0"/>
          </a:p>
        </p:txBody>
      </p:sp>
      <p:pic>
        <p:nvPicPr>
          <p:cNvPr id="6" name="Picture 5">
            <a:extLst>
              <a:ext uri="{FF2B5EF4-FFF2-40B4-BE49-F238E27FC236}">
                <a16:creationId xmlns:a16="http://schemas.microsoft.com/office/drawing/2014/main" id="{0FAE0C0D-641A-4217-A201-BD04C553B3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3235" y="3619683"/>
            <a:ext cx="4916556" cy="1842052"/>
          </a:xfrm>
          <a:prstGeom prst="rect">
            <a:avLst/>
          </a:prstGeom>
        </p:spPr>
      </p:pic>
    </p:spTree>
    <p:extLst>
      <p:ext uri="{BB962C8B-B14F-4D97-AF65-F5344CB8AC3E}">
        <p14:creationId xmlns:p14="http://schemas.microsoft.com/office/powerpoint/2010/main" val="1971625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0833A-A38D-42B2-8A60-A4A4F9AB17AF}"/>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Contd…</a:t>
            </a:r>
          </a:p>
        </p:txBody>
      </p:sp>
      <p:sp>
        <p:nvSpPr>
          <p:cNvPr id="3" name="Content Placeholder 2">
            <a:extLst>
              <a:ext uri="{FF2B5EF4-FFF2-40B4-BE49-F238E27FC236}">
                <a16:creationId xmlns:a16="http://schemas.microsoft.com/office/drawing/2014/main" id="{431F5D75-9117-4999-823F-31DADE9A6522}"/>
              </a:ext>
            </a:extLst>
          </p:cNvPr>
          <p:cNvSpPr>
            <a:spLocks noGrp="1"/>
          </p:cNvSpPr>
          <p:nvPr>
            <p:ph idx="1"/>
          </p:nvPr>
        </p:nvSpPr>
        <p:spPr/>
        <p:txBody>
          <a:bodyPr>
            <a:normAutofit/>
          </a:bodyPr>
          <a:lstStyle/>
          <a:p>
            <a:pPr algn="just">
              <a:lnSpc>
                <a:spcPct val="150000"/>
              </a:lnSpc>
            </a:pPr>
            <a:r>
              <a:rPr lang="de-DE" b="1" dirty="0">
                <a:latin typeface="Times New Roman" panose="02020603050405020304" pitchFamily="18" charset="0"/>
                <a:cs typeface="Times New Roman" panose="02020603050405020304" pitchFamily="18" charset="0"/>
              </a:rPr>
              <a:t>3) Reversible Isothermal process (3-4): </a:t>
            </a:r>
            <a:r>
              <a:rPr lang="de-DE" dirty="0">
                <a:latin typeface="Times New Roman" panose="02020603050405020304" pitchFamily="18" charset="0"/>
                <a:cs typeface="Times New Roman" panose="02020603050405020304" pitchFamily="18" charset="0"/>
              </a:rPr>
              <a:t>in which Q</a:t>
            </a:r>
            <a:r>
              <a:rPr lang="de-DE" baseline="-25000" dirty="0">
                <a:latin typeface="Times New Roman" panose="02020603050405020304" pitchFamily="18" charset="0"/>
                <a:cs typeface="Times New Roman" panose="02020603050405020304" pitchFamily="18" charset="0"/>
              </a:rPr>
              <a:t>2</a:t>
            </a:r>
            <a:r>
              <a:rPr lang="de-DE" dirty="0">
                <a:latin typeface="Times New Roman" panose="02020603050405020304" pitchFamily="18" charset="0"/>
                <a:cs typeface="Times New Roman" panose="02020603050405020304" pitchFamily="18" charset="0"/>
              </a:rPr>
              <a:t> heat leaves the system reversibly to a constant temperature sink at t</a:t>
            </a:r>
            <a:r>
              <a:rPr lang="de-DE" baseline="-25000" dirty="0">
                <a:latin typeface="Times New Roman" panose="02020603050405020304" pitchFamily="18" charset="0"/>
                <a:cs typeface="Times New Roman" panose="02020603050405020304" pitchFamily="18" charset="0"/>
              </a:rPr>
              <a:t>2</a:t>
            </a:r>
            <a:r>
              <a:rPr lang="de-DE" dirty="0">
                <a:latin typeface="Times New Roman" panose="02020603050405020304" pitchFamily="18" charset="0"/>
                <a:cs typeface="Times New Roman" panose="02020603050405020304" pitchFamily="18" charset="0"/>
              </a:rPr>
              <a:t> whe the cylinder is in contact with diathermic cover. The Internal energy of the system decreases.</a:t>
            </a:r>
          </a:p>
          <a:p>
            <a:pPr algn="just">
              <a:lnSpc>
                <a:spcPct val="150000"/>
              </a:lnSpc>
            </a:pPr>
            <a:r>
              <a:rPr lang="de-DE" dirty="0">
                <a:latin typeface="Times New Roman" panose="02020603050405020304" pitchFamily="18" charset="0"/>
                <a:cs typeface="Times New Roman" panose="02020603050405020304" pitchFamily="18" charset="0"/>
              </a:rPr>
              <a:t>From 1st law: </a:t>
            </a:r>
            <a:r>
              <a:rPr lang="en-IN" dirty="0">
                <a:latin typeface="Times New Roman" panose="02020603050405020304" pitchFamily="18" charset="0"/>
                <a:cs typeface="Times New Roman" panose="02020603050405020304" pitchFamily="18" charset="0"/>
              </a:rPr>
              <a:t>Q = ∆U + W</a:t>
            </a:r>
          </a:p>
          <a:p>
            <a:pPr algn="just">
              <a:lnSpc>
                <a:spcPct val="150000"/>
              </a:lnSpc>
            </a:pPr>
            <a:r>
              <a:rPr lang="en-IN" dirty="0">
                <a:latin typeface="Times New Roman" panose="02020603050405020304" pitchFamily="18" charset="0"/>
                <a:cs typeface="Times New Roman" panose="02020603050405020304" pitchFamily="18" charset="0"/>
              </a:rPr>
              <a:t>Q</a:t>
            </a:r>
            <a:r>
              <a:rPr lang="en-IN" baseline="-25000" dirty="0">
                <a:latin typeface="Times New Roman" panose="02020603050405020304" pitchFamily="18" charset="0"/>
                <a:cs typeface="Times New Roman" panose="02020603050405020304" pitchFamily="18" charset="0"/>
              </a:rPr>
              <a:t>3-4</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3-4                                 </a:t>
            </a:r>
            <a:r>
              <a:rPr lang="en-IN" dirty="0">
                <a:latin typeface="Times New Roman" panose="02020603050405020304" pitchFamily="18" charset="0"/>
                <a:cs typeface="Times New Roman" panose="02020603050405020304" pitchFamily="18" charset="0"/>
              </a:rPr>
              <a:t>(3)</a:t>
            </a:r>
          </a:p>
          <a:p>
            <a:pPr algn="just">
              <a:lnSpc>
                <a:spcPct val="150000"/>
              </a:lnSpc>
            </a:pPr>
            <a:endParaRPr lang="de-DE"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47E8F3F-AEE0-4A87-B652-019E49C30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3235" y="3619683"/>
            <a:ext cx="4916556" cy="1842052"/>
          </a:xfrm>
          <a:prstGeom prst="rect">
            <a:avLst/>
          </a:prstGeom>
        </p:spPr>
      </p:pic>
    </p:spTree>
    <p:extLst>
      <p:ext uri="{BB962C8B-B14F-4D97-AF65-F5344CB8AC3E}">
        <p14:creationId xmlns:p14="http://schemas.microsoft.com/office/powerpoint/2010/main" val="808801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8BBF9-F5D4-423B-B00A-7E9F9737EB1F}"/>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Contd…</a:t>
            </a:r>
          </a:p>
        </p:txBody>
      </p:sp>
      <p:sp>
        <p:nvSpPr>
          <p:cNvPr id="4" name="Content Placeholder 3">
            <a:extLst>
              <a:ext uri="{FF2B5EF4-FFF2-40B4-BE49-F238E27FC236}">
                <a16:creationId xmlns:a16="http://schemas.microsoft.com/office/drawing/2014/main" id="{51DA4D5F-2129-48BC-ACCA-5F87FD941C85}"/>
              </a:ext>
            </a:extLst>
          </p:cNvPr>
          <p:cNvSpPr>
            <a:spLocks noGrp="1"/>
          </p:cNvSpPr>
          <p:nvPr>
            <p:ph idx="1"/>
          </p:nvPr>
        </p:nvSpPr>
        <p:spPr/>
        <p:txBody>
          <a:bodyPr/>
          <a:lstStyle/>
          <a:p>
            <a:pPr algn="just">
              <a:lnSpc>
                <a:spcPct val="150000"/>
              </a:lnSpc>
            </a:pPr>
            <a:r>
              <a:rPr lang="en-IN" b="1" dirty="0">
                <a:latin typeface="Times New Roman" panose="02020603050405020304" pitchFamily="18" charset="0"/>
                <a:cs typeface="Times New Roman" panose="02020603050405020304" pitchFamily="18" charset="0"/>
              </a:rPr>
              <a:t>4) Reversible Adiabatic process(4-1): </a:t>
            </a:r>
            <a:r>
              <a:rPr lang="en-IN" dirty="0">
                <a:latin typeface="Times New Roman" panose="02020603050405020304" pitchFamily="18" charset="0"/>
                <a:cs typeface="Times New Roman" panose="02020603050405020304" pitchFamily="18" charset="0"/>
              </a:rPr>
              <a:t>in which diathermic cover is replaced with adiabatic cover and work is done on the system due to compression. Temperature of the system increases from t</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to t</a:t>
            </a:r>
            <a:r>
              <a:rPr lang="en-IN" baseline="-25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a:t>
            </a:r>
          </a:p>
          <a:p>
            <a:pPr marL="0" indent="0" algn="just">
              <a:lnSpc>
                <a:spcPct val="150000"/>
              </a:lnSpc>
              <a:buNone/>
            </a:pPr>
            <a:r>
              <a:rPr lang="de-DE" dirty="0">
                <a:latin typeface="Times New Roman" panose="02020603050405020304" pitchFamily="18" charset="0"/>
                <a:cs typeface="Times New Roman" panose="02020603050405020304" pitchFamily="18" charset="0"/>
              </a:rPr>
              <a:t>From 1st law: </a:t>
            </a:r>
            <a:r>
              <a:rPr lang="en-IN" dirty="0">
                <a:latin typeface="Times New Roman" panose="02020603050405020304" pitchFamily="18" charset="0"/>
                <a:cs typeface="Times New Roman" panose="02020603050405020304" pitchFamily="18" charset="0"/>
              </a:rPr>
              <a:t>Q = ∆U + W</a:t>
            </a:r>
          </a:p>
          <a:p>
            <a:pPr algn="just">
              <a:lnSpc>
                <a:spcPct val="150000"/>
              </a:lnSpc>
            </a:pPr>
            <a:r>
              <a:rPr lang="en-IN" dirty="0">
                <a:latin typeface="Times New Roman" panose="02020603050405020304" pitchFamily="18" charset="0"/>
                <a:cs typeface="Times New Roman" panose="02020603050405020304" pitchFamily="18" charset="0"/>
              </a:rPr>
              <a:t>Q</a:t>
            </a:r>
            <a:r>
              <a:rPr lang="en-IN" baseline="-25000" dirty="0">
                <a:latin typeface="Times New Roman" panose="02020603050405020304" pitchFamily="18" charset="0"/>
                <a:cs typeface="Times New Roman" panose="02020603050405020304" pitchFamily="18" charset="0"/>
              </a:rPr>
              <a:t>4-1</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4-1</a:t>
            </a:r>
          </a:p>
          <a:p>
            <a:pPr algn="just">
              <a:lnSpc>
                <a:spcPct val="150000"/>
              </a:lnSpc>
            </a:pPr>
            <a:r>
              <a:rPr lang="en-IN" dirty="0">
                <a:latin typeface="Times New Roman" panose="02020603050405020304" pitchFamily="18" charset="0"/>
                <a:cs typeface="Times New Roman" panose="02020603050405020304" pitchFamily="18" charset="0"/>
              </a:rPr>
              <a:t>0 = 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4-1		</a:t>
            </a:r>
            <a:r>
              <a:rPr lang="en-IN" dirty="0">
                <a:latin typeface="Times New Roman" panose="02020603050405020304" pitchFamily="18" charset="0"/>
                <a:cs typeface="Times New Roman" panose="02020603050405020304" pitchFamily="18" charset="0"/>
              </a:rPr>
              <a:t>(4)</a:t>
            </a:r>
            <a:endParaRPr lang="en-IN" dirty="0"/>
          </a:p>
          <a:p>
            <a:pPr algn="just">
              <a:lnSpc>
                <a:spcPct val="150000"/>
              </a:lnSpc>
            </a:pPr>
            <a:endParaRPr lang="en-IN" dirty="0"/>
          </a:p>
          <a:p>
            <a:endParaRPr lang="en-IN" dirty="0"/>
          </a:p>
        </p:txBody>
      </p:sp>
      <p:pic>
        <p:nvPicPr>
          <p:cNvPr id="6" name="Picture 5">
            <a:extLst>
              <a:ext uri="{FF2B5EF4-FFF2-40B4-BE49-F238E27FC236}">
                <a16:creationId xmlns:a16="http://schemas.microsoft.com/office/drawing/2014/main" id="{0FAE0C0D-641A-4217-A201-BD04C553B3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3235" y="3619683"/>
            <a:ext cx="4916556" cy="1842052"/>
          </a:xfrm>
          <a:prstGeom prst="rect">
            <a:avLst/>
          </a:prstGeom>
        </p:spPr>
      </p:pic>
    </p:spTree>
    <p:extLst>
      <p:ext uri="{BB962C8B-B14F-4D97-AF65-F5344CB8AC3E}">
        <p14:creationId xmlns:p14="http://schemas.microsoft.com/office/powerpoint/2010/main" val="1745489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70F49-A961-4CCA-8E98-8B3122B1DCC3}"/>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Contd…</a:t>
            </a:r>
          </a:p>
        </p:txBody>
      </p:sp>
      <p:sp>
        <p:nvSpPr>
          <p:cNvPr id="4" name="Content Placeholder 3">
            <a:extLst>
              <a:ext uri="{FF2B5EF4-FFF2-40B4-BE49-F238E27FC236}">
                <a16:creationId xmlns:a16="http://schemas.microsoft.com/office/drawing/2014/main" id="{AEBC2893-4DC9-4BAB-978F-A923981A6C46}"/>
              </a:ext>
            </a:extLst>
          </p:cNvPr>
          <p:cNvSpPr>
            <a:spLocks noGrp="1"/>
          </p:cNvSpPr>
          <p:nvPr>
            <p:ph idx="1"/>
          </p:nvPr>
        </p:nvSpPr>
        <p:spPr>
          <a:xfrm>
            <a:off x="1229802" y="1832481"/>
            <a:ext cx="10058400" cy="4023360"/>
          </a:xfrm>
        </p:spPr>
        <p:txBody>
          <a:bodyPr>
            <a:normAutofit/>
          </a:bodyPr>
          <a:lstStyle/>
          <a:p>
            <a:pPr algn="just">
              <a:lnSpc>
                <a:spcPct val="100000"/>
              </a:lnSpc>
            </a:pPr>
            <a:r>
              <a:rPr lang="en-IN" dirty="0">
                <a:latin typeface="Times New Roman" panose="02020603050405020304" pitchFamily="18" charset="0"/>
                <a:cs typeface="Times New Roman" panose="02020603050405020304" pitchFamily="18" charset="0"/>
              </a:rPr>
              <a:t>The equations are:</a:t>
            </a:r>
          </a:p>
          <a:p>
            <a:pPr algn="just">
              <a:lnSpc>
                <a:spcPct val="100000"/>
              </a:lnSpc>
            </a:pPr>
            <a:r>
              <a:rPr lang="en-IN" dirty="0">
                <a:latin typeface="Times New Roman" panose="02020603050405020304" pitchFamily="18" charset="0"/>
                <a:cs typeface="Times New Roman" panose="02020603050405020304" pitchFamily="18" charset="0"/>
              </a:rPr>
              <a:t>Q</a:t>
            </a:r>
            <a:r>
              <a:rPr lang="en-IN" baseline="-25000" dirty="0">
                <a:latin typeface="Times New Roman" panose="02020603050405020304" pitchFamily="18" charset="0"/>
                <a:cs typeface="Times New Roman" panose="02020603050405020304" pitchFamily="18" charset="0"/>
              </a:rPr>
              <a:t>1-2</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1-2		</a:t>
            </a:r>
            <a:r>
              <a:rPr lang="en-IN" dirty="0">
                <a:latin typeface="Times New Roman" panose="02020603050405020304" pitchFamily="18" charset="0"/>
                <a:cs typeface="Times New Roman" panose="02020603050405020304" pitchFamily="18" charset="0"/>
              </a:rPr>
              <a:t>(1)</a:t>
            </a:r>
          </a:p>
          <a:p>
            <a:pPr algn="just">
              <a:lnSpc>
                <a:spcPct val="100000"/>
              </a:lnSpc>
            </a:pPr>
            <a:r>
              <a:rPr lang="en-IN" dirty="0">
                <a:latin typeface="Times New Roman" panose="02020603050405020304" pitchFamily="18" charset="0"/>
                <a:cs typeface="Times New Roman" panose="02020603050405020304" pitchFamily="18" charset="0"/>
              </a:rPr>
              <a:t>0 = 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2-3		</a:t>
            </a:r>
            <a:r>
              <a:rPr lang="en-IN" dirty="0">
                <a:latin typeface="Times New Roman" panose="02020603050405020304" pitchFamily="18" charset="0"/>
                <a:cs typeface="Times New Roman" panose="02020603050405020304" pitchFamily="18" charset="0"/>
              </a:rPr>
              <a:t>(2)</a:t>
            </a:r>
          </a:p>
          <a:p>
            <a:pPr algn="just">
              <a:lnSpc>
                <a:spcPct val="100000"/>
              </a:lnSpc>
            </a:pPr>
            <a:r>
              <a:rPr lang="en-IN" dirty="0">
                <a:latin typeface="Times New Roman" panose="02020603050405020304" pitchFamily="18" charset="0"/>
                <a:cs typeface="Times New Roman" panose="02020603050405020304" pitchFamily="18" charset="0"/>
              </a:rPr>
              <a:t>Q</a:t>
            </a:r>
            <a:r>
              <a:rPr lang="en-IN" baseline="-25000" dirty="0">
                <a:latin typeface="Times New Roman" panose="02020603050405020304" pitchFamily="18" charset="0"/>
                <a:cs typeface="Times New Roman" panose="02020603050405020304" pitchFamily="18" charset="0"/>
              </a:rPr>
              <a:t>3-4</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3-4		</a:t>
            </a:r>
            <a:r>
              <a:rPr lang="en-IN" dirty="0">
                <a:latin typeface="Times New Roman" panose="02020603050405020304" pitchFamily="18" charset="0"/>
                <a:cs typeface="Times New Roman" panose="02020603050405020304" pitchFamily="18" charset="0"/>
              </a:rPr>
              <a:t>(3)</a:t>
            </a:r>
          </a:p>
          <a:p>
            <a:pPr algn="just">
              <a:lnSpc>
                <a:spcPct val="100000"/>
              </a:lnSpc>
            </a:pPr>
            <a:r>
              <a:rPr lang="en-IN" dirty="0">
                <a:latin typeface="Times New Roman" panose="02020603050405020304" pitchFamily="18" charset="0"/>
                <a:cs typeface="Times New Roman" panose="02020603050405020304" pitchFamily="18" charset="0"/>
              </a:rPr>
              <a:t>0 = 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4-1		</a:t>
            </a:r>
            <a:r>
              <a:rPr lang="en-IN" dirty="0">
                <a:latin typeface="Times New Roman" panose="02020603050405020304" pitchFamily="18" charset="0"/>
                <a:cs typeface="Times New Roman" panose="02020603050405020304" pitchFamily="18" charset="0"/>
              </a:rPr>
              <a:t>(4)</a:t>
            </a:r>
            <a:r>
              <a:rPr lang="en-IN" baseline="-25000" dirty="0">
                <a:latin typeface="Times New Roman" panose="02020603050405020304" pitchFamily="18" charset="0"/>
                <a:cs typeface="Times New Roman" panose="02020603050405020304" pitchFamily="18" charset="0"/>
              </a:rPr>
              <a:t>	</a:t>
            </a:r>
          </a:p>
          <a:p>
            <a:pPr algn="just">
              <a:lnSpc>
                <a:spcPct val="100000"/>
              </a:lnSpc>
            </a:pPr>
            <a:r>
              <a:rPr lang="en-IN" dirty="0">
                <a:latin typeface="Times New Roman" panose="02020603050405020304" pitchFamily="18" charset="0"/>
                <a:cs typeface="Times New Roman" panose="02020603050405020304" pitchFamily="18" charset="0"/>
              </a:rPr>
              <a:t>Adding all the above equations, we get:</a:t>
            </a:r>
          </a:p>
          <a:p>
            <a:pPr algn="just">
              <a:lnSpc>
                <a:spcPct val="100000"/>
              </a:lnSpc>
            </a:pPr>
            <a:r>
              <a:rPr lang="en-IN" dirty="0">
                <a:latin typeface="Times New Roman" panose="02020603050405020304" pitchFamily="18" charset="0"/>
                <a:cs typeface="Times New Roman" panose="02020603050405020304" pitchFamily="18" charset="0"/>
              </a:rPr>
              <a:t>Q</a:t>
            </a:r>
            <a:r>
              <a:rPr lang="en-IN" baseline="-25000" dirty="0">
                <a:latin typeface="Times New Roman" panose="02020603050405020304" pitchFamily="18" charset="0"/>
                <a:cs typeface="Times New Roman" panose="02020603050405020304" pitchFamily="18" charset="0"/>
              </a:rPr>
              <a:t>1-2</a:t>
            </a:r>
            <a:r>
              <a:rPr lang="en-IN" dirty="0">
                <a:latin typeface="Times New Roman" panose="02020603050405020304" pitchFamily="18" charset="0"/>
                <a:cs typeface="Times New Roman" panose="02020603050405020304" pitchFamily="18" charset="0"/>
              </a:rPr>
              <a:t> + 0 + Q</a:t>
            </a:r>
            <a:r>
              <a:rPr lang="en-IN" baseline="-25000" dirty="0">
                <a:latin typeface="Times New Roman" panose="02020603050405020304" pitchFamily="18" charset="0"/>
                <a:cs typeface="Times New Roman" panose="02020603050405020304" pitchFamily="18" charset="0"/>
              </a:rPr>
              <a:t>3-4 </a:t>
            </a:r>
            <a:r>
              <a:rPr lang="en-IN" dirty="0">
                <a:latin typeface="Times New Roman" panose="02020603050405020304" pitchFamily="18" charset="0"/>
                <a:cs typeface="Times New Roman" panose="02020603050405020304" pitchFamily="18" charset="0"/>
              </a:rPr>
              <a:t>+ 0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1-2 </a:t>
            </a:r>
            <a:r>
              <a:rPr lang="en-IN" dirty="0">
                <a:latin typeface="Times New Roman" panose="02020603050405020304" pitchFamily="18" charset="0"/>
                <a:cs typeface="Times New Roman" panose="02020603050405020304" pitchFamily="18" charset="0"/>
              </a:rPr>
              <a:t>+</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2-3 </a:t>
            </a:r>
            <a:r>
              <a:rPr lang="en-IN" dirty="0">
                <a:latin typeface="Times New Roman" panose="02020603050405020304" pitchFamily="18" charset="0"/>
                <a:cs typeface="Times New Roman" panose="02020603050405020304" pitchFamily="18" charset="0"/>
              </a:rPr>
              <a:t>+</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a:t>
            </a:r>
            <a:r>
              <a:rPr lang="en-IN" baseline="-25000" dirty="0">
                <a:latin typeface="Times New Roman" panose="02020603050405020304" pitchFamily="18" charset="0"/>
                <a:cs typeface="Times New Roman" panose="02020603050405020304" pitchFamily="18" charset="0"/>
              </a:rPr>
              <a:t>4</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3-4 </a:t>
            </a:r>
            <a:r>
              <a:rPr lang="en-IN" dirty="0">
                <a:latin typeface="Times New Roman" panose="02020603050405020304" pitchFamily="18" charset="0"/>
                <a:cs typeface="Times New Roman" panose="02020603050405020304" pitchFamily="18" charset="0"/>
              </a:rPr>
              <a:t>+</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a:t>
            </a:r>
            <a:r>
              <a:rPr lang="en-IN" baseline="-25000"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 U</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 W</a:t>
            </a:r>
            <a:r>
              <a:rPr lang="en-IN" baseline="-25000" dirty="0">
                <a:latin typeface="Times New Roman" panose="02020603050405020304" pitchFamily="18" charset="0"/>
                <a:cs typeface="Times New Roman" panose="02020603050405020304" pitchFamily="18" charset="0"/>
              </a:rPr>
              <a:t>4-1</a:t>
            </a:r>
          </a:p>
          <a:p>
            <a:pPr algn="just">
              <a:lnSpc>
                <a:spcPct val="100000"/>
              </a:lnSpc>
            </a:pPr>
            <a:r>
              <a:rPr lang="en-IN" dirty="0">
                <a:latin typeface="Times New Roman" panose="02020603050405020304" pitchFamily="18" charset="0"/>
                <a:cs typeface="Times New Roman" panose="02020603050405020304" pitchFamily="18" charset="0"/>
              </a:rPr>
              <a:t>Q</a:t>
            </a:r>
            <a:r>
              <a:rPr lang="en-IN" baseline="-25000" dirty="0">
                <a:latin typeface="Times New Roman" panose="02020603050405020304" pitchFamily="18" charset="0"/>
                <a:cs typeface="Times New Roman" panose="02020603050405020304" pitchFamily="18" charset="0"/>
              </a:rPr>
              <a:t>1-2</a:t>
            </a:r>
            <a:r>
              <a:rPr lang="en-IN" dirty="0">
                <a:latin typeface="Times New Roman" panose="02020603050405020304" pitchFamily="18" charset="0"/>
                <a:cs typeface="Times New Roman" panose="02020603050405020304" pitchFamily="18" charset="0"/>
              </a:rPr>
              <a:t> + Q</a:t>
            </a:r>
            <a:r>
              <a:rPr lang="en-IN" baseline="-25000" dirty="0">
                <a:latin typeface="Times New Roman" panose="02020603050405020304" pitchFamily="18" charset="0"/>
                <a:cs typeface="Times New Roman" panose="02020603050405020304" pitchFamily="18" charset="0"/>
              </a:rPr>
              <a:t>3-4 = </a:t>
            </a:r>
            <a:r>
              <a:rPr lang="en-IN" dirty="0">
                <a:latin typeface="Times New Roman" panose="02020603050405020304" pitchFamily="18" charset="0"/>
                <a:cs typeface="Times New Roman" panose="02020603050405020304" pitchFamily="18" charset="0"/>
              </a:rPr>
              <a:t>W</a:t>
            </a:r>
            <a:r>
              <a:rPr lang="en-IN" baseline="-25000" dirty="0">
                <a:latin typeface="Times New Roman" panose="02020603050405020304" pitchFamily="18" charset="0"/>
                <a:cs typeface="Times New Roman" panose="02020603050405020304" pitchFamily="18" charset="0"/>
              </a:rPr>
              <a:t>1-2 </a:t>
            </a:r>
            <a:r>
              <a:rPr lang="en-IN" dirty="0">
                <a:latin typeface="Times New Roman" panose="02020603050405020304" pitchFamily="18" charset="0"/>
                <a:cs typeface="Times New Roman" panose="02020603050405020304" pitchFamily="18" charset="0"/>
              </a:rPr>
              <a:t>+</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W</a:t>
            </a:r>
            <a:r>
              <a:rPr lang="en-IN" baseline="-25000" dirty="0">
                <a:latin typeface="Times New Roman" panose="02020603050405020304" pitchFamily="18" charset="0"/>
                <a:cs typeface="Times New Roman" panose="02020603050405020304" pitchFamily="18" charset="0"/>
              </a:rPr>
              <a:t>2-3 </a:t>
            </a:r>
            <a:r>
              <a:rPr lang="en-IN" dirty="0">
                <a:latin typeface="Times New Roman" panose="02020603050405020304" pitchFamily="18" charset="0"/>
                <a:cs typeface="Times New Roman" panose="02020603050405020304" pitchFamily="18" charset="0"/>
              </a:rPr>
              <a:t>+</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W</a:t>
            </a:r>
            <a:r>
              <a:rPr lang="en-IN" baseline="-25000" dirty="0">
                <a:latin typeface="Times New Roman" panose="02020603050405020304" pitchFamily="18" charset="0"/>
                <a:cs typeface="Times New Roman" panose="02020603050405020304" pitchFamily="18" charset="0"/>
              </a:rPr>
              <a:t>3-4 </a:t>
            </a:r>
            <a:r>
              <a:rPr lang="en-IN" dirty="0">
                <a:latin typeface="Times New Roman" panose="02020603050405020304" pitchFamily="18" charset="0"/>
                <a:cs typeface="Times New Roman" panose="02020603050405020304" pitchFamily="18" charset="0"/>
              </a:rPr>
              <a:t>+</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W</a:t>
            </a:r>
            <a:r>
              <a:rPr lang="en-IN" baseline="-25000" dirty="0">
                <a:latin typeface="Times New Roman" panose="02020603050405020304" pitchFamily="18" charset="0"/>
                <a:cs typeface="Times New Roman" panose="02020603050405020304" pitchFamily="18" charset="0"/>
              </a:rPr>
              <a:t>4-1 </a:t>
            </a:r>
            <a:r>
              <a:rPr lang="en-IN" b="1" dirty="0">
                <a:latin typeface="Times New Roman" panose="02020603050405020304" pitchFamily="18" charset="0"/>
                <a:cs typeface="Times New Roman" panose="02020603050405020304" pitchFamily="18" charset="0"/>
              </a:rPr>
              <a:t>(First law of Thermodynamics for a Cyclic process)</a:t>
            </a:r>
          </a:p>
          <a:p>
            <a:pPr algn="just">
              <a:lnSpc>
                <a:spcPct val="100000"/>
              </a:lnSpc>
            </a:pP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767E9B2-C4A5-4B8C-B7A8-A8D35ABA3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433258" y="4741332"/>
            <a:ext cx="431707" cy="2229017"/>
          </a:xfrm>
          <a:prstGeom prst="rect">
            <a:avLst/>
          </a:prstGeom>
        </p:spPr>
      </p:pic>
      <p:pic>
        <p:nvPicPr>
          <p:cNvPr id="6" name="Picture 5">
            <a:extLst>
              <a:ext uri="{FF2B5EF4-FFF2-40B4-BE49-F238E27FC236}">
                <a16:creationId xmlns:a16="http://schemas.microsoft.com/office/drawing/2014/main" id="{76995F18-B94D-4268-BFE2-267CDA929E6D}"/>
              </a:ext>
            </a:extLst>
          </p:cNvPr>
          <p:cNvPicPr>
            <a:picLocks noChangeAspect="1"/>
          </p:cNvPicPr>
          <p:nvPr/>
        </p:nvPicPr>
        <p:blipFill rotWithShape="1">
          <a:blip r:embed="rId3">
            <a:extLst>
              <a:ext uri="{28A0092B-C50C-407E-A947-70E740481C1C}">
                <a14:useLocalDpi xmlns:a14="http://schemas.microsoft.com/office/drawing/2010/main" val="0"/>
              </a:ext>
            </a:extLst>
          </a:blip>
          <a:srcRect l="16087" t="39222" r="59891" b="16118"/>
          <a:stretch/>
        </p:blipFill>
        <p:spPr>
          <a:xfrm>
            <a:off x="7447722" y="1898374"/>
            <a:ext cx="2928730" cy="2620617"/>
          </a:xfrm>
          <a:prstGeom prst="rect">
            <a:avLst/>
          </a:prstGeom>
        </p:spPr>
      </p:pic>
    </p:spTree>
    <p:extLst>
      <p:ext uri="{BB962C8B-B14F-4D97-AF65-F5344CB8AC3E}">
        <p14:creationId xmlns:p14="http://schemas.microsoft.com/office/powerpoint/2010/main" val="3470601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F0246-E539-4FB3-BBFA-56FAE443CE1C}"/>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Carnot Theorem</a:t>
            </a:r>
          </a:p>
        </p:txBody>
      </p:sp>
      <p:sp>
        <p:nvSpPr>
          <p:cNvPr id="4" name="Content Placeholder 3">
            <a:extLst>
              <a:ext uri="{FF2B5EF4-FFF2-40B4-BE49-F238E27FC236}">
                <a16:creationId xmlns:a16="http://schemas.microsoft.com/office/drawing/2014/main" id="{5CFC75B7-CE4A-4B3D-A1DC-27ABF3CB8343}"/>
              </a:ext>
            </a:extLst>
          </p:cNvPr>
          <p:cNvSpPr>
            <a:spLocks noGrp="1"/>
          </p:cNvSpPr>
          <p:nvPr>
            <p:ph idx="1"/>
          </p:nvPr>
        </p:nvSpPr>
        <p:spPr/>
        <p:txBody>
          <a:bodyPr>
            <a:normAutofit fontScale="92500" lnSpcReduction="10000"/>
          </a:bodyPr>
          <a:lstStyle/>
          <a:p>
            <a:pPr algn="just">
              <a:lnSpc>
                <a:spcPct val="150000"/>
              </a:lnSpc>
            </a:pPr>
            <a:r>
              <a:rPr lang="en-IN" dirty="0">
                <a:latin typeface="Times New Roman" panose="02020603050405020304" pitchFamily="18" charset="0"/>
                <a:cs typeface="Times New Roman" panose="02020603050405020304" pitchFamily="18" charset="0"/>
              </a:rPr>
              <a:t>“It states that of all engines operating between a given constant temperature source and a given constant temperature sink, none has a higher efficiency than a reversible engine”.</a:t>
            </a:r>
          </a:p>
          <a:p>
            <a:pPr algn="just"/>
            <a:r>
              <a:rPr lang="en-IN" dirty="0">
                <a:latin typeface="Times New Roman" panose="02020603050405020304" pitchFamily="18" charset="0"/>
                <a:cs typeface="Times New Roman" panose="02020603050405020304" pitchFamily="18" charset="0"/>
              </a:rPr>
              <a:t>HE</a:t>
            </a:r>
            <a:r>
              <a:rPr lang="en-IN" baseline="-25000"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 and HE</a:t>
            </a:r>
            <a:r>
              <a:rPr lang="en-IN" baseline="-25000" dirty="0">
                <a:latin typeface="Times New Roman" panose="02020603050405020304" pitchFamily="18" charset="0"/>
                <a:cs typeface="Times New Roman" panose="02020603050405020304" pitchFamily="18" charset="0"/>
              </a:rPr>
              <a:t>B</a:t>
            </a:r>
            <a:r>
              <a:rPr lang="en-IN" dirty="0">
                <a:latin typeface="Times New Roman" panose="02020603050405020304" pitchFamily="18" charset="0"/>
                <a:cs typeface="Times New Roman" panose="02020603050405020304" pitchFamily="18" charset="0"/>
              </a:rPr>
              <a:t> are the two engines operating </a:t>
            </a:r>
          </a:p>
          <a:p>
            <a:pPr algn="just"/>
            <a:r>
              <a:rPr lang="en-IN" dirty="0">
                <a:latin typeface="Times New Roman" panose="02020603050405020304" pitchFamily="18" charset="0"/>
                <a:cs typeface="Times New Roman" panose="02020603050405020304" pitchFamily="18" charset="0"/>
              </a:rPr>
              <a:t>between the given source at temperature T</a:t>
            </a:r>
            <a:r>
              <a:rPr lang="en-IN" baseline="-25000" dirty="0">
                <a:latin typeface="Times New Roman" panose="02020603050405020304" pitchFamily="18" charset="0"/>
                <a:cs typeface="Times New Roman" panose="02020603050405020304" pitchFamily="18" charset="0"/>
              </a:rPr>
              <a:t>1</a:t>
            </a:r>
          </a:p>
          <a:p>
            <a:pPr algn="just"/>
            <a:r>
              <a:rPr lang="en-IN" dirty="0">
                <a:latin typeface="Times New Roman" panose="02020603050405020304" pitchFamily="18" charset="0"/>
                <a:cs typeface="Times New Roman" panose="02020603050405020304" pitchFamily="18" charset="0"/>
              </a:rPr>
              <a:t>and the given sink at temperature T</a:t>
            </a:r>
            <a:r>
              <a:rPr lang="en-IN" baseline="-25000"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a:t>
            </a:r>
          </a:p>
          <a:p>
            <a:r>
              <a:rPr lang="en-IN" sz="2100" dirty="0">
                <a:latin typeface="Times New Roman" panose="02020603050405020304" pitchFamily="18" charset="0"/>
                <a:cs typeface="Times New Roman" panose="02020603050405020304" pitchFamily="18" charset="0"/>
              </a:rPr>
              <a:t>Let HE</a:t>
            </a:r>
            <a:r>
              <a:rPr lang="en-IN" sz="2100" baseline="-25000" dirty="0">
                <a:latin typeface="Times New Roman" panose="02020603050405020304" pitchFamily="18" charset="0"/>
                <a:cs typeface="Times New Roman" panose="02020603050405020304" pitchFamily="18" charset="0"/>
              </a:rPr>
              <a:t>A</a:t>
            </a:r>
            <a:r>
              <a:rPr lang="en-IN" sz="2100" dirty="0">
                <a:latin typeface="Times New Roman" panose="02020603050405020304" pitchFamily="18" charset="0"/>
                <a:cs typeface="Times New Roman" panose="02020603050405020304" pitchFamily="18" charset="0"/>
              </a:rPr>
              <a:t> be any heat engine and HE</a:t>
            </a:r>
            <a:r>
              <a:rPr lang="en-IN" sz="2100" baseline="-25000" dirty="0">
                <a:latin typeface="Times New Roman" panose="02020603050405020304" pitchFamily="18" charset="0"/>
                <a:cs typeface="Times New Roman" panose="02020603050405020304" pitchFamily="18" charset="0"/>
              </a:rPr>
              <a:t>B</a:t>
            </a:r>
            <a:r>
              <a:rPr lang="en-IN" sz="2100" dirty="0">
                <a:latin typeface="Times New Roman" panose="02020603050405020304" pitchFamily="18" charset="0"/>
                <a:cs typeface="Times New Roman" panose="02020603050405020304" pitchFamily="18" charset="0"/>
              </a:rPr>
              <a:t> be any </a:t>
            </a:r>
          </a:p>
          <a:p>
            <a:r>
              <a:rPr lang="en-IN" sz="2100" dirty="0">
                <a:latin typeface="Times New Roman" panose="02020603050405020304" pitchFamily="18" charset="0"/>
                <a:cs typeface="Times New Roman" panose="02020603050405020304" pitchFamily="18" charset="0"/>
              </a:rPr>
              <a:t>reversible heat engine. We have to prove that</a:t>
            </a:r>
          </a:p>
          <a:p>
            <a:r>
              <a:rPr lang="en-IN" sz="2100" dirty="0">
                <a:latin typeface="Times New Roman" panose="02020603050405020304" pitchFamily="18" charset="0"/>
                <a:cs typeface="Times New Roman" panose="02020603050405020304" pitchFamily="18" charset="0"/>
              </a:rPr>
              <a:t>efficiency of HE</a:t>
            </a:r>
            <a:r>
              <a:rPr lang="en-IN" sz="2100" baseline="-25000" dirty="0">
                <a:latin typeface="Times New Roman" panose="02020603050405020304" pitchFamily="18" charset="0"/>
                <a:cs typeface="Times New Roman" panose="02020603050405020304" pitchFamily="18" charset="0"/>
              </a:rPr>
              <a:t>B</a:t>
            </a:r>
            <a:r>
              <a:rPr lang="en-IN" sz="2100" dirty="0">
                <a:latin typeface="Times New Roman" panose="02020603050405020304" pitchFamily="18" charset="0"/>
                <a:cs typeface="Times New Roman" panose="02020603050405020304" pitchFamily="18" charset="0"/>
              </a:rPr>
              <a:t> is more than that of HE</a:t>
            </a:r>
            <a:r>
              <a:rPr lang="en-IN" sz="2100" baseline="-25000" dirty="0">
                <a:latin typeface="Times New Roman" panose="02020603050405020304" pitchFamily="18" charset="0"/>
                <a:cs typeface="Times New Roman" panose="02020603050405020304" pitchFamily="18" charset="0"/>
              </a:rPr>
              <a:t>A</a:t>
            </a:r>
            <a:r>
              <a:rPr lang="en-IN" sz="2100" dirty="0">
                <a:latin typeface="Times New Roman" panose="02020603050405020304" pitchFamily="18" charset="0"/>
                <a:cs typeface="Times New Roman" panose="02020603050405020304" pitchFamily="18" charset="0"/>
              </a:rPr>
              <a:t>. </a:t>
            </a:r>
          </a:p>
          <a:p>
            <a:r>
              <a:rPr lang="en-IN" sz="2100" dirty="0">
                <a:latin typeface="Times New Roman" panose="02020603050405020304" pitchFamily="18" charset="0"/>
                <a:cs typeface="Times New Roman" panose="02020603050405020304" pitchFamily="18" charset="0"/>
              </a:rPr>
              <a:t>Let us assume that </a:t>
            </a:r>
            <a:r>
              <a:rPr lang="en-IN" sz="2100" dirty="0" err="1">
                <a:latin typeface="Times New Roman" panose="02020603050405020304" pitchFamily="18" charset="0"/>
                <a:cs typeface="Times New Roman" panose="02020603050405020304" pitchFamily="18" charset="0"/>
              </a:rPr>
              <a:t>η</a:t>
            </a:r>
            <a:r>
              <a:rPr lang="en-IN" sz="2100" baseline="-25000" dirty="0" err="1">
                <a:latin typeface="Times New Roman" panose="02020603050405020304" pitchFamily="18" charset="0"/>
                <a:cs typeface="Times New Roman" panose="02020603050405020304" pitchFamily="18" charset="0"/>
              </a:rPr>
              <a:t>A</a:t>
            </a:r>
            <a:r>
              <a:rPr lang="en-IN" sz="2100" dirty="0">
                <a:latin typeface="Times New Roman" panose="02020603050405020304" pitchFamily="18" charset="0"/>
                <a:cs typeface="Times New Roman" panose="02020603050405020304" pitchFamily="18" charset="0"/>
              </a:rPr>
              <a:t> &gt; </a:t>
            </a:r>
            <a:r>
              <a:rPr lang="en-IN" sz="2100" dirty="0" err="1">
                <a:latin typeface="Times New Roman" panose="02020603050405020304" pitchFamily="18" charset="0"/>
                <a:cs typeface="Times New Roman" panose="02020603050405020304" pitchFamily="18" charset="0"/>
              </a:rPr>
              <a:t>η</a:t>
            </a:r>
            <a:r>
              <a:rPr lang="en-IN" sz="2100" baseline="-25000" dirty="0" err="1">
                <a:latin typeface="Times New Roman" panose="02020603050405020304" pitchFamily="18" charset="0"/>
                <a:cs typeface="Times New Roman" panose="02020603050405020304" pitchFamily="18" charset="0"/>
              </a:rPr>
              <a:t>B</a:t>
            </a:r>
            <a:r>
              <a:rPr lang="en-IN" sz="2100" dirty="0">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9D55F601-4790-4D4D-A688-F7AAD972AB5D}"/>
              </a:ext>
            </a:extLst>
          </p:cNvPr>
          <p:cNvPicPr>
            <a:picLocks noChangeAspect="1"/>
          </p:cNvPicPr>
          <p:nvPr/>
        </p:nvPicPr>
        <p:blipFill rotWithShape="1">
          <a:blip r:embed="rId2">
            <a:extLst>
              <a:ext uri="{28A0092B-C50C-407E-A947-70E740481C1C}">
                <a14:useLocalDpi xmlns:a14="http://schemas.microsoft.com/office/drawing/2010/main" val="0"/>
              </a:ext>
            </a:extLst>
          </a:blip>
          <a:srcRect l="28478" t="20855" r="43370" b="33325"/>
          <a:stretch/>
        </p:blipFill>
        <p:spPr>
          <a:xfrm>
            <a:off x="6612835" y="2836703"/>
            <a:ext cx="3432313" cy="3140765"/>
          </a:xfrm>
          <a:prstGeom prst="rect">
            <a:avLst/>
          </a:prstGeom>
        </p:spPr>
      </p:pic>
    </p:spTree>
    <p:extLst>
      <p:ext uri="{BB962C8B-B14F-4D97-AF65-F5344CB8AC3E}">
        <p14:creationId xmlns:p14="http://schemas.microsoft.com/office/powerpoint/2010/main" val="1305475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EA68B-B5E3-48A9-AA6B-002A20998444}"/>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Contd…</a:t>
            </a:r>
          </a:p>
        </p:txBody>
      </p:sp>
      <p:sp>
        <p:nvSpPr>
          <p:cNvPr id="4" name="Content Placeholder 3">
            <a:extLst>
              <a:ext uri="{FF2B5EF4-FFF2-40B4-BE49-F238E27FC236}">
                <a16:creationId xmlns:a16="http://schemas.microsoft.com/office/drawing/2014/main" id="{163BA032-26E9-4471-BBE3-EF19B4352422}"/>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Let the rates of working of the engines be such that</a:t>
            </a:r>
          </a:p>
          <a:p>
            <a:endParaRPr lang="en-IN" dirty="0"/>
          </a:p>
        </p:txBody>
      </p:sp>
      <p:pic>
        <p:nvPicPr>
          <p:cNvPr id="8" name="Picture 7">
            <a:extLst>
              <a:ext uri="{FF2B5EF4-FFF2-40B4-BE49-F238E27FC236}">
                <a16:creationId xmlns:a16="http://schemas.microsoft.com/office/drawing/2014/main" id="{5BA485D3-46B7-442D-BE65-9E33F45A18BF}"/>
              </a:ext>
            </a:extLst>
          </p:cNvPr>
          <p:cNvPicPr>
            <a:picLocks noChangeAspect="1"/>
          </p:cNvPicPr>
          <p:nvPr/>
        </p:nvPicPr>
        <p:blipFill rotWithShape="1">
          <a:blip r:embed="rId2">
            <a:extLst>
              <a:ext uri="{28A0092B-C50C-407E-A947-70E740481C1C}">
                <a14:useLocalDpi xmlns:a14="http://schemas.microsoft.com/office/drawing/2010/main" val="0"/>
              </a:ext>
            </a:extLst>
          </a:blip>
          <a:srcRect l="31413" t="36123" r="57174" b="47583"/>
          <a:stretch/>
        </p:blipFill>
        <p:spPr>
          <a:xfrm>
            <a:off x="2001078" y="2560982"/>
            <a:ext cx="2584175" cy="2037522"/>
          </a:xfrm>
          <a:prstGeom prst="rect">
            <a:avLst/>
          </a:prstGeom>
        </p:spPr>
      </p:pic>
      <p:pic>
        <p:nvPicPr>
          <p:cNvPr id="9" name="Picture 8">
            <a:extLst>
              <a:ext uri="{FF2B5EF4-FFF2-40B4-BE49-F238E27FC236}">
                <a16:creationId xmlns:a16="http://schemas.microsoft.com/office/drawing/2014/main" id="{96BB5615-9358-4CAB-911D-27E75962A4E7}"/>
              </a:ext>
            </a:extLst>
          </p:cNvPr>
          <p:cNvPicPr>
            <a:picLocks noChangeAspect="1"/>
          </p:cNvPicPr>
          <p:nvPr/>
        </p:nvPicPr>
        <p:blipFill rotWithShape="1">
          <a:blip r:embed="rId3">
            <a:extLst>
              <a:ext uri="{28A0092B-C50C-407E-A947-70E740481C1C}">
                <a14:useLocalDpi xmlns:a14="http://schemas.microsoft.com/office/drawing/2010/main" val="0"/>
              </a:ext>
            </a:extLst>
          </a:blip>
          <a:srcRect l="28478" t="20855" r="43370" b="33325"/>
          <a:stretch/>
        </p:blipFill>
        <p:spPr>
          <a:xfrm>
            <a:off x="5261113" y="2287031"/>
            <a:ext cx="3432313" cy="3140765"/>
          </a:xfrm>
          <a:prstGeom prst="rect">
            <a:avLst/>
          </a:prstGeom>
        </p:spPr>
      </p:pic>
    </p:spTree>
    <p:extLst>
      <p:ext uri="{BB962C8B-B14F-4D97-AF65-F5344CB8AC3E}">
        <p14:creationId xmlns:p14="http://schemas.microsoft.com/office/powerpoint/2010/main" val="3690317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4E439-91B5-45A2-BB5F-2E2944C0F21D}"/>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Contd…</a:t>
            </a:r>
          </a:p>
        </p:txBody>
      </p:sp>
      <p:sp>
        <p:nvSpPr>
          <p:cNvPr id="3" name="Content Placeholder 2">
            <a:extLst>
              <a:ext uri="{FF2B5EF4-FFF2-40B4-BE49-F238E27FC236}">
                <a16:creationId xmlns:a16="http://schemas.microsoft.com/office/drawing/2014/main" id="{234B51D5-EC12-4E64-BBF0-82C820531265}"/>
              </a:ext>
            </a:extLst>
          </p:cNvPr>
          <p:cNvSpPr>
            <a:spLocks noGrp="1"/>
          </p:cNvSpPr>
          <p:nvPr>
            <p:ph idx="1"/>
          </p:nvPr>
        </p:nvSpPr>
        <p:spPr/>
        <p:txBody>
          <a:bodyPr>
            <a:normAutofit/>
          </a:bodyPr>
          <a:lstStyle/>
          <a:p>
            <a:pPr algn="just">
              <a:lnSpc>
                <a:spcPct val="150000"/>
              </a:lnSpc>
            </a:pPr>
            <a:r>
              <a:rPr lang="en-IN" sz="1600" dirty="0">
                <a:latin typeface="Times New Roman" panose="02020603050405020304" pitchFamily="18" charset="0"/>
                <a:cs typeface="Times New Roman" panose="02020603050405020304" pitchFamily="18" charset="0"/>
              </a:rPr>
              <a:t>Now, let HE</a:t>
            </a:r>
            <a:r>
              <a:rPr lang="en-IN" sz="1600" baseline="-250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be reversed. Since HE</a:t>
            </a:r>
            <a:r>
              <a:rPr lang="en-IN" sz="1600" baseline="-250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is a reversible heat engine, the magnitudes of heat and work transfer quantities will remain the same, but their directions will be reversed. Since W</a:t>
            </a:r>
            <a:r>
              <a:rPr lang="en-IN" sz="1600" baseline="-25000" dirty="0">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 &gt; W</a:t>
            </a:r>
            <a:r>
              <a:rPr lang="en-IN" sz="1600" baseline="-250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some part of W</a:t>
            </a:r>
            <a:r>
              <a:rPr lang="en-IN" sz="1600" baseline="-25000" dirty="0">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 (equal to W</a:t>
            </a:r>
            <a:r>
              <a:rPr lang="en-IN" sz="1600" baseline="-250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may be fed to drive the reversed heat engine ∃H</a:t>
            </a:r>
            <a:r>
              <a:rPr lang="en-IN" sz="1600" baseline="-250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Since Q</a:t>
            </a:r>
            <a:r>
              <a:rPr lang="en-IN" sz="1600" baseline="-25000" dirty="0">
                <a:latin typeface="Times New Roman" panose="02020603050405020304" pitchFamily="18" charset="0"/>
                <a:cs typeface="Times New Roman" panose="02020603050405020304" pitchFamily="18" charset="0"/>
              </a:rPr>
              <a:t>1A </a:t>
            </a:r>
            <a:r>
              <a:rPr lang="en-IN" sz="1600" dirty="0">
                <a:latin typeface="Times New Roman" panose="02020603050405020304" pitchFamily="18" charset="0"/>
                <a:cs typeface="Times New Roman" panose="02020603050405020304" pitchFamily="18" charset="0"/>
              </a:rPr>
              <a:t>= Q</a:t>
            </a:r>
            <a:r>
              <a:rPr lang="en-IN" sz="1600" baseline="-25000" dirty="0">
                <a:latin typeface="Times New Roman" panose="02020603050405020304" pitchFamily="18" charset="0"/>
                <a:cs typeface="Times New Roman" panose="02020603050405020304" pitchFamily="18" charset="0"/>
              </a:rPr>
              <a:t>1B</a:t>
            </a:r>
            <a:r>
              <a:rPr lang="en-IN" sz="1600" dirty="0">
                <a:latin typeface="Times New Roman" panose="02020603050405020304" pitchFamily="18" charset="0"/>
                <a:cs typeface="Times New Roman" panose="02020603050405020304" pitchFamily="18" charset="0"/>
              </a:rPr>
              <a:t> = Q</a:t>
            </a:r>
            <a:r>
              <a:rPr lang="en-IN" sz="1600" baseline="-25000" dirty="0">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 the heat discharged by ∃H</a:t>
            </a:r>
            <a:r>
              <a:rPr lang="en-IN" sz="1600" baseline="-250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may be supplied to HE</a:t>
            </a:r>
            <a:r>
              <a:rPr lang="en-IN" sz="1600" baseline="-25000" dirty="0">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 The source may, therefore, be eliminated. The net result is that HE</a:t>
            </a:r>
            <a:r>
              <a:rPr lang="en-IN" sz="1600" baseline="-25000" dirty="0">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 and ∃H</a:t>
            </a:r>
            <a:r>
              <a:rPr lang="en-IN" sz="1600" baseline="-250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together constitute a heat engine which, operating in a cycle produces net work W</a:t>
            </a:r>
            <a:r>
              <a:rPr lang="en-IN" sz="1600" baseline="-25000" dirty="0">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 – W</a:t>
            </a:r>
            <a:r>
              <a:rPr lang="en-IN" sz="1600" baseline="-25000" dirty="0">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while exchanging heat with a single reservoir at T</a:t>
            </a:r>
            <a:r>
              <a:rPr lang="en-IN" sz="1600" baseline="-250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 This violates the Kelvin-Planck statement of the second law. Hence the assumption that </a:t>
            </a:r>
            <a:r>
              <a:rPr lang="en-IN" sz="1600" dirty="0" err="1">
                <a:latin typeface="Times New Roman" panose="02020603050405020304" pitchFamily="18" charset="0"/>
                <a:cs typeface="Times New Roman" panose="02020603050405020304" pitchFamily="18" charset="0"/>
              </a:rPr>
              <a:t>η</a:t>
            </a:r>
            <a:r>
              <a:rPr lang="en-IN" sz="1600" baseline="-25000" dirty="0" err="1">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 &gt; </a:t>
            </a:r>
            <a:r>
              <a:rPr lang="en-IN" sz="1600" dirty="0" err="1">
                <a:latin typeface="Times New Roman" panose="02020603050405020304" pitchFamily="18" charset="0"/>
                <a:cs typeface="Times New Roman" panose="02020603050405020304" pitchFamily="18" charset="0"/>
              </a:rPr>
              <a:t>η</a:t>
            </a:r>
            <a:r>
              <a:rPr lang="en-IN" sz="1600" baseline="-25000" dirty="0" err="1">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is wrong. Hence, </a:t>
            </a:r>
            <a:r>
              <a:rPr lang="en-IN" sz="1600" dirty="0" err="1">
                <a:latin typeface="Times New Roman" panose="02020603050405020304" pitchFamily="18" charset="0"/>
                <a:cs typeface="Times New Roman" panose="02020603050405020304" pitchFamily="18" charset="0"/>
              </a:rPr>
              <a:t>η</a:t>
            </a:r>
            <a:r>
              <a:rPr lang="en-IN" sz="1600" baseline="-25000" dirty="0" err="1">
                <a:latin typeface="Times New Roman" panose="02020603050405020304" pitchFamily="18" charset="0"/>
                <a:cs typeface="Times New Roman" panose="02020603050405020304" pitchFamily="18" charset="0"/>
              </a:rPr>
              <a:t>B</a:t>
            </a:r>
            <a:r>
              <a:rPr lang="en-IN" sz="1600" dirty="0">
                <a:latin typeface="Times New Roman" panose="02020603050405020304" pitchFamily="18" charset="0"/>
                <a:cs typeface="Times New Roman" panose="02020603050405020304" pitchFamily="18" charset="0"/>
              </a:rPr>
              <a:t> &gt; </a:t>
            </a:r>
            <a:r>
              <a:rPr lang="en-IN" sz="1600" dirty="0" err="1">
                <a:latin typeface="Times New Roman" panose="02020603050405020304" pitchFamily="18" charset="0"/>
                <a:cs typeface="Times New Roman" panose="02020603050405020304" pitchFamily="18" charset="0"/>
              </a:rPr>
              <a:t>η</a:t>
            </a:r>
            <a:r>
              <a:rPr lang="en-IN" sz="1600" baseline="-25000" dirty="0" err="1">
                <a:latin typeface="Times New Roman" panose="02020603050405020304" pitchFamily="18" charset="0"/>
                <a:cs typeface="Times New Roman" panose="02020603050405020304" pitchFamily="18" charset="0"/>
              </a:rPr>
              <a:t>A</a:t>
            </a:r>
            <a:r>
              <a:rPr lang="en-IN" sz="16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834DBBA7-DFFB-4F4D-ABD3-4099945F09BD}"/>
              </a:ext>
            </a:extLst>
          </p:cNvPr>
          <p:cNvPicPr>
            <a:picLocks noChangeAspect="1"/>
          </p:cNvPicPr>
          <p:nvPr/>
        </p:nvPicPr>
        <p:blipFill rotWithShape="1">
          <a:blip r:embed="rId2"/>
          <a:srcRect l="31413" t="17762" r="46196" b="46279"/>
          <a:stretch/>
        </p:blipFill>
        <p:spPr>
          <a:xfrm>
            <a:off x="5128591" y="4054871"/>
            <a:ext cx="2952584" cy="2146852"/>
          </a:xfrm>
          <a:prstGeom prst="rect">
            <a:avLst/>
          </a:prstGeom>
        </p:spPr>
      </p:pic>
      <p:pic>
        <p:nvPicPr>
          <p:cNvPr id="5" name="Picture 4">
            <a:extLst>
              <a:ext uri="{FF2B5EF4-FFF2-40B4-BE49-F238E27FC236}">
                <a16:creationId xmlns:a16="http://schemas.microsoft.com/office/drawing/2014/main" id="{785F23B4-E174-4227-9D4D-6C5C3FA152F7}"/>
              </a:ext>
            </a:extLst>
          </p:cNvPr>
          <p:cNvPicPr>
            <a:picLocks noChangeAspect="1"/>
          </p:cNvPicPr>
          <p:nvPr/>
        </p:nvPicPr>
        <p:blipFill rotWithShape="1">
          <a:blip r:embed="rId2"/>
          <a:srcRect l="31391" t="57782" r="45435" b="10899"/>
          <a:stretch/>
        </p:blipFill>
        <p:spPr>
          <a:xfrm>
            <a:off x="9008828" y="4200645"/>
            <a:ext cx="2825363" cy="2027877"/>
          </a:xfrm>
          <a:prstGeom prst="rect">
            <a:avLst/>
          </a:prstGeom>
        </p:spPr>
      </p:pic>
      <p:pic>
        <p:nvPicPr>
          <p:cNvPr id="6" name="Picture 5">
            <a:extLst>
              <a:ext uri="{FF2B5EF4-FFF2-40B4-BE49-F238E27FC236}">
                <a16:creationId xmlns:a16="http://schemas.microsoft.com/office/drawing/2014/main" id="{F833EFE8-DD2F-4F86-B635-7D5691A3109F}"/>
              </a:ext>
            </a:extLst>
          </p:cNvPr>
          <p:cNvPicPr>
            <a:picLocks noChangeAspect="1"/>
          </p:cNvPicPr>
          <p:nvPr/>
        </p:nvPicPr>
        <p:blipFill rotWithShape="1">
          <a:blip r:embed="rId3">
            <a:extLst>
              <a:ext uri="{28A0092B-C50C-407E-A947-70E740481C1C}">
                <a14:useLocalDpi xmlns:a14="http://schemas.microsoft.com/office/drawing/2010/main" val="0"/>
              </a:ext>
            </a:extLst>
          </a:blip>
          <a:srcRect l="28478" t="20855" r="43370" b="33325"/>
          <a:stretch/>
        </p:blipFill>
        <p:spPr>
          <a:xfrm>
            <a:off x="1470990" y="4054871"/>
            <a:ext cx="2729948" cy="2173651"/>
          </a:xfrm>
          <a:prstGeom prst="rect">
            <a:avLst/>
          </a:prstGeom>
        </p:spPr>
      </p:pic>
    </p:spTree>
    <p:extLst>
      <p:ext uri="{BB962C8B-B14F-4D97-AF65-F5344CB8AC3E}">
        <p14:creationId xmlns:p14="http://schemas.microsoft.com/office/powerpoint/2010/main" val="9951037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045C3-5AFC-ED41-A099-2D349FFD2D4F}"/>
              </a:ext>
            </a:extLst>
          </p:cNvPr>
          <p:cNvSpPr>
            <a:spLocks noGrp="1"/>
          </p:cNvSpPr>
          <p:nvPr>
            <p:ph type="title"/>
          </p:nvPr>
        </p:nvSpPr>
        <p:spPr>
          <a:xfrm>
            <a:off x="1097280" y="286603"/>
            <a:ext cx="10058400" cy="1262797"/>
          </a:xfrm>
        </p:spPr>
        <p:txBody>
          <a:bodyPr>
            <a:normAutofit/>
          </a:bodyPr>
          <a:lstStyle/>
          <a:p>
            <a:r>
              <a:rPr lang="en-IN" sz="2800" b="1" dirty="0">
                <a:latin typeface="Times New Roman" panose="02020603050405020304" pitchFamily="18" charset="0"/>
                <a:cs typeface="Times New Roman" panose="02020603050405020304" pitchFamily="18" charset="0"/>
              </a:rPr>
              <a:t>Entropy</a:t>
            </a:r>
          </a:p>
        </p:txBody>
      </p:sp>
      <p:pic>
        <p:nvPicPr>
          <p:cNvPr id="5" name="Picture 4">
            <a:extLst>
              <a:ext uri="{FF2B5EF4-FFF2-40B4-BE49-F238E27FC236}">
                <a16:creationId xmlns:a16="http://schemas.microsoft.com/office/drawing/2014/main" id="{7A1D3F5F-E00A-FB29-F07E-96C7861148F1}"/>
              </a:ext>
            </a:extLst>
          </p:cNvPr>
          <p:cNvPicPr>
            <a:picLocks noChangeAspect="1"/>
          </p:cNvPicPr>
          <p:nvPr/>
        </p:nvPicPr>
        <p:blipFill>
          <a:blip r:embed="rId2"/>
          <a:stretch>
            <a:fillRect/>
          </a:stretch>
        </p:blipFill>
        <p:spPr>
          <a:xfrm>
            <a:off x="2415679" y="1847544"/>
            <a:ext cx="7106642" cy="4382112"/>
          </a:xfrm>
          <a:prstGeom prst="rect">
            <a:avLst/>
          </a:prstGeom>
        </p:spPr>
      </p:pic>
    </p:spTree>
    <p:extLst>
      <p:ext uri="{BB962C8B-B14F-4D97-AF65-F5344CB8AC3E}">
        <p14:creationId xmlns:p14="http://schemas.microsoft.com/office/powerpoint/2010/main" val="360983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F68B1-8ACE-147D-EA46-FA298FD4EBDB}"/>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Clausius inequality</a:t>
            </a:r>
          </a:p>
        </p:txBody>
      </p:sp>
      <p:pic>
        <p:nvPicPr>
          <p:cNvPr id="5" name="Picture 4">
            <a:extLst>
              <a:ext uri="{FF2B5EF4-FFF2-40B4-BE49-F238E27FC236}">
                <a16:creationId xmlns:a16="http://schemas.microsoft.com/office/drawing/2014/main" id="{9CD52E6F-4B68-29C8-FE13-D4D2CAE2F89C}"/>
              </a:ext>
            </a:extLst>
          </p:cNvPr>
          <p:cNvPicPr>
            <a:picLocks noChangeAspect="1"/>
          </p:cNvPicPr>
          <p:nvPr/>
        </p:nvPicPr>
        <p:blipFill>
          <a:blip r:embed="rId2"/>
          <a:stretch>
            <a:fillRect/>
          </a:stretch>
        </p:blipFill>
        <p:spPr>
          <a:xfrm>
            <a:off x="4477721" y="2241985"/>
            <a:ext cx="3057612" cy="3269293"/>
          </a:xfrm>
          <a:prstGeom prst="rect">
            <a:avLst/>
          </a:prstGeom>
        </p:spPr>
      </p:pic>
    </p:spTree>
    <p:extLst>
      <p:ext uri="{BB962C8B-B14F-4D97-AF65-F5344CB8AC3E}">
        <p14:creationId xmlns:p14="http://schemas.microsoft.com/office/powerpoint/2010/main" val="474938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EC7AE-394D-1DE5-29F1-60D00CB8830A}"/>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Available energy</a:t>
            </a:r>
          </a:p>
        </p:txBody>
      </p:sp>
      <p:pic>
        <p:nvPicPr>
          <p:cNvPr id="5" name="Picture 4">
            <a:extLst>
              <a:ext uri="{FF2B5EF4-FFF2-40B4-BE49-F238E27FC236}">
                <a16:creationId xmlns:a16="http://schemas.microsoft.com/office/drawing/2014/main" id="{09199F28-3958-7C5B-6770-8ACF731EFF25}"/>
              </a:ext>
            </a:extLst>
          </p:cNvPr>
          <p:cNvPicPr>
            <a:picLocks noChangeAspect="1"/>
          </p:cNvPicPr>
          <p:nvPr/>
        </p:nvPicPr>
        <p:blipFill>
          <a:blip r:embed="rId2"/>
          <a:stretch>
            <a:fillRect/>
          </a:stretch>
        </p:blipFill>
        <p:spPr>
          <a:xfrm>
            <a:off x="2046483" y="1978243"/>
            <a:ext cx="6779240" cy="1450757"/>
          </a:xfrm>
          <a:prstGeom prst="rect">
            <a:avLst/>
          </a:prstGeom>
        </p:spPr>
      </p:pic>
    </p:spTree>
    <p:extLst>
      <p:ext uri="{BB962C8B-B14F-4D97-AF65-F5344CB8AC3E}">
        <p14:creationId xmlns:p14="http://schemas.microsoft.com/office/powerpoint/2010/main" val="3957894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FBBD2-7784-A058-A07C-90C78923D26D}"/>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Third law of Thermodynamics</a:t>
            </a:r>
          </a:p>
        </p:txBody>
      </p:sp>
      <p:pic>
        <p:nvPicPr>
          <p:cNvPr id="5" name="Picture 4">
            <a:extLst>
              <a:ext uri="{FF2B5EF4-FFF2-40B4-BE49-F238E27FC236}">
                <a16:creationId xmlns:a16="http://schemas.microsoft.com/office/drawing/2014/main" id="{0C654884-1FDB-891A-E9A5-D7922984B599}"/>
              </a:ext>
            </a:extLst>
          </p:cNvPr>
          <p:cNvPicPr>
            <a:picLocks noChangeAspect="1"/>
          </p:cNvPicPr>
          <p:nvPr/>
        </p:nvPicPr>
        <p:blipFill>
          <a:blip r:embed="rId2"/>
          <a:stretch>
            <a:fillRect/>
          </a:stretch>
        </p:blipFill>
        <p:spPr>
          <a:xfrm>
            <a:off x="2166025" y="2085428"/>
            <a:ext cx="7431428" cy="2687143"/>
          </a:xfrm>
          <a:prstGeom prst="rect">
            <a:avLst/>
          </a:prstGeom>
        </p:spPr>
      </p:pic>
    </p:spTree>
    <p:extLst>
      <p:ext uri="{BB962C8B-B14F-4D97-AF65-F5344CB8AC3E}">
        <p14:creationId xmlns:p14="http://schemas.microsoft.com/office/powerpoint/2010/main" val="265701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7621F-285E-C109-70A1-99BCEDA73B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F7967-F09E-2CCB-0D73-49B8B3D404B4}"/>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Entropy of Isolated system</a:t>
            </a:r>
          </a:p>
        </p:txBody>
      </p:sp>
      <p:pic>
        <p:nvPicPr>
          <p:cNvPr id="4" name="Picture 3">
            <a:extLst>
              <a:ext uri="{FF2B5EF4-FFF2-40B4-BE49-F238E27FC236}">
                <a16:creationId xmlns:a16="http://schemas.microsoft.com/office/drawing/2014/main" id="{98F8D3AF-DAB4-6729-1B08-55E9559C1B7B}"/>
              </a:ext>
            </a:extLst>
          </p:cNvPr>
          <p:cNvPicPr>
            <a:picLocks noChangeAspect="1"/>
          </p:cNvPicPr>
          <p:nvPr/>
        </p:nvPicPr>
        <p:blipFill>
          <a:blip r:embed="rId2"/>
          <a:stretch>
            <a:fillRect/>
          </a:stretch>
        </p:blipFill>
        <p:spPr>
          <a:xfrm>
            <a:off x="2854060" y="2255216"/>
            <a:ext cx="6168956" cy="2138984"/>
          </a:xfrm>
          <a:prstGeom prst="rect">
            <a:avLst/>
          </a:prstGeom>
        </p:spPr>
      </p:pic>
      <p:pic>
        <p:nvPicPr>
          <p:cNvPr id="7" name="Picture 6">
            <a:extLst>
              <a:ext uri="{FF2B5EF4-FFF2-40B4-BE49-F238E27FC236}">
                <a16:creationId xmlns:a16="http://schemas.microsoft.com/office/drawing/2014/main" id="{38352777-4220-37A5-BF8B-5BDC4147CDFB}"/>
              </a:ext>
            </a:extLst>
          </p:cNvPr>
          <p:cNvPicPr>
            <a:picLocks noChangeAspect="1"/>
          </p:cNvPicPr>
          <p:nvPr/>
        </p:nvPicPr>
        <p:blipFill>
          <a:blip r:embed="rId3"/>
          <a:stretch>
            <a:fillRect/>
          </a:stretch>
        </p:blipFill>
        <p:spPr>
          <a:xfrm>
            <a:off x="2916935" y="4585976"/>
            <a:ext cx="6106081" cy="1376972"/>
          </a:xfrm>
          <a:prstGeom prst="rect">
            <a:avLst/>
          </a:prstGeom>
        </p:spPr>
      </p:pic>
    </p:spTree>
    <p:extLst>
      <p:ext uri="{BB962C8B-B14F-4D97-AF65-F5344CB8AC3E}">
        <p14:creationId xmlns:p14="http://schemas.microsoft.com/office/powerpoint/2010/main" val="4063717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7A0102-EED6-4275-9F64-359BFE668F4C}"/>
              </a:ext>
            </a:extLst>
          </p:cNvPr>
          <p:cNvSpPr>
            <a:spLocks noGrp="1"/>
          </p:cNvSpPr>
          <p:nvPr>
            <p:ph idx="1"/>
          </p:nvPr>
        </p:nvSpPr>
        <p:spPr>
          <a:xfrm>
            <a:off x="4662115" y="3491948"/>
            <a:ext cx="10058400" cy="2440094"/>
          </a:xfrm>
        </p:spPr>
        <p:txBody>
          <a:bodyPr>
            <a:normAutofit/>
          </a:bodyPr>
          <a:lstStyle/>
          <a:p>
            <a:r>
              <a:rPr lang="en-IN" sz="4000" dirty="0">
                <a:latin typeface="Times New Roman" panose="02020603050405020304" pitchFamily="18" charset="0"/>
                <a:cs typeface="Times New Roman" panose="02020603050405020304" pitchFamily="18" charset="0"/>
              </a:rPr>
              <a:t>THANKS</a:t>
            </a:r>
          </a:p>
        </p:txBody>
      </p:sp>
    </p:spTree>
    <p:extLst>
      <p:ext uri="{BB962C8B-B14F-4D97-AF65-F5344CB8AC3E}">
        <p14:creationId xmlns:p14="http://schemas.microsoft.com/office/powerpoint/2010/main" val="271764350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1068</TotalTime>
  <Words>907</Words>
  <Application>Microsoft Office PowerPoint</Application>
  <PresentationFormat>Widescreen</PresentationFormat>
  <Paragraphs>63</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Calibri Light</vt:lpstr>
      <vt:lpstr>Times New Roman</vt:lpstr>
      <vt:lpstr>Retrospect</vt:lpstr>
      <vt:lpstr>Course: Thermofluids ( MEC235) </vt:lpstr>
      <vt:lpstr>Carnot cycle</vt:lpstr>
      <vt:lpstr>Assumptions</vt:lpstr>
      <vt:lpstr>Processes in Carnot Cycle</vt:lpstr>
      <vt:lpstr>Contd…</vt:lpstr>
      <vt:lpstr>Contd…</vt:lpstr>
      <vt:lpstr>Contd…</vt:lpstr>
      <vt:lpstr>Contd…</vt:lpstr>
      <vt:lpstr>Carnot Theorem</vt:lpstr>
      <vt:lpstr>Contd…</vt:lpstr>
      <vt:lpstr>Contd…</vt:lpstr>
      <vt:lpstr>Entropy</vt:lpstr>
      <vt:lpstr>Clausius inequality</vt:lpstr>
      <vt:lpstr>Available energy</vt:lpstr>
      <vt:lpstr>Third law of Thermodynamics</vt:lpstr>
      <vt:lpstr>Entropy of Isolated system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sudhanshu dogra</dc:creator>
  <cp:lastModifiedBy>sudhanshu dogra</cp:lastModifiedBy>
  <cp:revision>108</cp:revision>
  <dcterms:created xsi:type="dcterms:W3CDTF">2020-03-19T06:17:07Z</dcterms:created>
  <dcterms:modified xsi:type="dcterms:W3CDTF">2025-10-03T03:45:23Z</dcterms:modified>
</cp:coreProperties>
</file>